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136BFF3-A65B-46DD-8DF8-08600D9A9506}">
          <p14:sldIdLst>
            <p14:sldId id="257"/>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6415"/>
    <a:srgbClr val="D21E10"/>
    <a:srgbClr val="E8BCA4"/>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317F04-7900-45C1-B789-5AEFAC005FDB}" v="186" dt="2025-08-26T09:33:49.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84a830334c750038/Analysis%20of%20data.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r>
              <a:rPr lang="en-US" b="1">
                <a:effectLst>
                  <a:outerShdw blurRad="38100" dist="38100" dir="2700000" algn="tl">
                    <a:srgbClr val="000000">
                      <a:alpha val="43137"/>
                    </a:srgbClr>
                  </a:outerShdw>
                </a:effectLst>
              </a:rPr>
              <a:t>ABC</a:t>
            </a:r>
            <a:r>
              <a:rPr lang="en-US" b="1" baseline="0">
                <a:effectLst>
                  <a:outerShdw blurRad="38100" dist="38100" dir="2700000" algn="tl">
                    <a:srgbClr val="000000">
                      <a:alpha val="43137"/>
                    </a:srgbClr>
                  </a:outerShdw>
                </a:effectLst>
              </a:rPr>
              <a:t> Categorization on Total Revenue</a:t>
            </a:r>
            <a:endParaRPr lang="en-US" b="1">
              <a:effectLst>
                <a:outerShdw blurRad="38100" dist="38100" dir="2700000" algn="tl">
                  <a:srgbClr val="000000">
                    <a:alpha val="43137"/>
                  </a:srgbClr>
                </a:outerShdw>
              </a:effectLst>
            </a:endParaRPr>
          </a:p>
        </c:rich>
      </c:tx>
      <c:layout>
        <c:manualLayout>
          <c:xMode val="edge"/>
          <c:yMode val="edge"/>
          <c:x val="0.34321283659908691"/>
          <c:y val="2.7007767682131808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endParaRPr lang="en-US"/>
        </a:p>
      </c:txPr>
    </c:title>
    <c:autoTitleDeleted val="0"/>
    <c:plotArea>
      <c:layout>
        <c:manualLayout>
          <c:layoutTarget val="inner"/>
          <c:xMode val="edge"/>
          <c:yMode val="edge"/>
          <c:x val="0.20765779485794245"/>
          <c:y val="0.1239789535845785"/>
          <c:w val="0.78047979090256547"/>
          <c:h val="0.6095211150157841"/>
        </c:manualLayout>
      </c:layout>
      <c:barChart>
        <c:barDir val="col"/>
        <c:grouping val="clustered"/>
        <c:varyColors val="0"/>
        <c:ser>
          <c:idx val="0"/>
          <c:order val="0"/>
          <c:tx>
            <c:strRef>
              <c:f>'ABC classification'!$C$16</c:f>
              <c:strCache>
                <c:ptCount val="1"/>
                <c:pt idx="0">
                  <c:v>Total Revenue</c:v>
                </c:pt>
              </c:strCache>
            </c:strRef>
          </c:tx>
          <c:spPr>
            <a:solidFill>
              <a:srgbClr val="92D050"/>
            </a:solidFill>
            <a:ln>
              <a:noFill/>
            </a:ln>
            <a:effectLst/>
          </c:spPr>
          <c:invertIfNegative val="0"/>
          <c:dLbls>
            <c:dLbl>
              <c:idx val="0"/>
              <c:tx>
                <c:rich>
                  <a:bodyPr/>
                  <a:lstStyle/>
                  <a:p>
                    <a:fld id="{5411FEB2-5A26-4A44-B7BD-7AFAC2FDC16A}" type="CELLRANGE">
                      <a:rPr lang="en-US"/>
                      <a:pPr/>
                      <a:t>[CELLRANGE]</a:t>
                    </a:fld>
                    <a:r>
                      <a:rPr lang="en-US" baseline="0"/>
                      <a:t>, </a:t>
                    </a:r>
                    <a:fld id="{0B72DE85-3E1A-4081-B642-FBED4CAEC2A9}"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10C1-43D8-B26F-36BD97BCE0D2}"/>
                </c:ext>
              </c:extLst>
            </c:dLbl>
            <c:dLbl>
              <c:idx val="1"/>
              <c:tx>
                <c:rich>
                  <a:bodyPr/>
                  <a:lstStyle/>
                  <a:p>
                    <a:fld id="{722773EB-9BC4-43DE-9046-5C25686B3CB5}" type="CELLRANGE">
                      <a:rPr lang="en-US"/>
                      <a:pPr/>
                      <a:t>[CELLRANGE]</a:t>
                    </a:fld>
                    <a:r>
                      <a:rPr lang="en-US" baseline="0"/>
                      <a:t>, </a:t>
                    </a:r>
                    <a:fld id="{15D6D1C2-B83F-4CB3-8A5B-3436826A3C53}"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10C1-43D8-B26F-36BD97BCE0D2}"/>
                </c:ext>
              </c:extLst>
            </c:dLbl>
            <c:dLbl>
              <c:idx val="2"/>
              <c:tx>
                <c:rich>
                  <a:bodyPr/>
                  <a:lstStyle/>
                  <a:p>
                    <a:fld id="{E1C4ED8D-EA8A-40FB-B158-6312079D6D4B}" type="CELLRANGE">
                      <a:rPr lang="en-US"/>
                      <a:pPr/>
                      <a:t>[CELLRANGE]</a:t>
                    </a:fld>
                    <a:r>
                      <a:rPr lang="en-US" baseline="0"/>
                      <a:t>, </a:t>
                    </a:r>
                    <a:fld id="{C64AC139-756E-41F5-AFCD-3D3BF57AB62C}"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10C1-43D8-B26F-36BD97BCE0D2}"/>
                </c:ext>
              </c:extLst>
            </c:dLbl>
            <c:dLbl>
              <c:idx val="3"/>
              <c:tx>
                <c:rich>
                  <a:bodyPr/>
                  <a:lstStyle/>
                  <a:p>
                    <a:fld id="{C74C69E6-4D4F-463D-8B9A-AA9DEA6BAA28}" type="CELLRANGE">
                      <a:rPr lang="en-US"/>
                      <a:pPr/>
                      <a:t>[CELLRANGE]</a:t>
                    </a:fld>
                    <a:r>
                      <a:rPr lang="en-US" baseline="0"/>
                      <a:t>, </a:t>
                    </a:r>
                    <a:fld id="{A8411FCD-1707-4899-B0F1-D37AA5593268}"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10C1-43D8-B26F-36BD97BCE0D2}"/>
                </c:ext>
              </c:extLst>
            </c:dLbl>
            <c:dLbl>
              <c:idx val="4"/>
              <c:tx>
                <c:rich>
                  <a:bodyPr/>
                  <a:lstStyle/>
                  <a:p>
                    <a:fld id="{247CA9EA-90FC-4525-9EFD-78B50B972266}" type="CELLRANGE">
                      <a:rPr lang="en-US"/>
                      <a:pPr/>
                      <a:t>[CELLRANGE]</a:t>
                    </a:fld>
                    <a:r>
                      <a:rPr lang="en-US" baseline="0"/>
                      <a:t>, </a:t>
                    </a:r>
                    <a:fld id="{5EFE67D2-38EC-4F35-812B-99F31BBA3499}"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10C1-43D8-B26F-36BD97BCE0D2}"/>
                </c:ext>
              </c:extLst>
            </c:dLbl>
            <c:numFmt formatCode="[$₹-4009]\ #,##0.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'ABC classification'!$B$17:$B$21</c:f>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f>'ABC classification'!$C$17:$C$21</c:f>
              <c:numCache>
                <c:formatCode>General</c:formatCode>
                <c:ptCount val="5"/>
                <c:pt idx="0">
                  <c:v>5506300</c:v>
                </c:pt>
                <c:pt idx="1">
                  <c:v>3691675</c:v>
                </c:pt>
                <c:pt idx="2">
                  <c:v>3300895</c:v>
                </c:pt>
                <c:pt idx="3">
                  <c:v>2842650</c:v>
                </c:pt>
                <c:pt idx="4">
                  <c:v>2241000</c:v>
                </c:pt>
              </c:numCache>
            </c:numRef>
          </c:val>
          <c:extLst>
            <c:ext xmlns:c15="http://schemas.microsoft.com/office/drawing/2012/chart" uri="{02D57815-91ED-43cb-92C2-25804820EDAC}">
              <c15:datalabelsRange>
                <c15:f>'ABC classification'!$F$17:$F$21</c15:f>
                <c15:dlblRangeCache>
                  <c:ptCount val="5"/>
                  <c:pt idx="0">
                    <c:v>A</c:v>
                  </c:pt>
                  <c:pt idx="1">
                    <c:v>A</c:v>
                  </c:pt>
                  <c:pt idx="2">
                    <c:v>B</c:v>
                  </c:pt>
                  <c:pt idx="3">
                    <c:v>B</c:v>
                  </c:pt>
                  <c:pt idx="4">
                    <c:v>C</c:v>
                  </c:pt>
                </c15:dlblRangeCache>
              </c15:datalabelsRange>
            </c:ext>
            <c:ext xmlns:c16="http://schemas.microsoft.com/office/drawing/2014/chart" uri="{C3380CC4-5D6E-409C-BE32-E72D297353CC}">
              <c16:uniqueId val="{00000005-10C1-43D8-B26F-36BD97BCE0D2}"/>
            </c:ext>
          </c:extLst>
        </c:ser>
        <c:dLbls>
          <c:showLegendKey val="0"/>
          <c:showVal val="0"/>
          <c:showCatName val="0"/>
          <c:showSerName val="0"/>
          <c:showPercent val="0"/>
          <c:showBubbleSize val="0"/>
        </c:dLbls>
        <c:gapWidth val="219"/>
        <c:overlap val="-27"/>
        <c:axId val="358707808"/>
        <c:axId val="358721248"/>
        <c:extLst>
          <c:ext xmlns:c15="http://schemas.microsoft.com/office/drawing/2012/chart" uri="{02D57815-91ED-43cb-92C2-25804820EDAC}">
            <c15:filteredBarSeries>
              <c15:ser>
                <c:idx val="1"/>
                <c:order val="1"/>
                <c:tx>
                  <c:strRef>
                    <c:extLst>
                      <c:ext uri="{02D57815-91ED-43cb-92C2-25804820EDAC}">
                        <c15:formulaRef>
                          <c15:sqref>'ABC classification'!$D$16</c15:sqref>
                        </c15:formulaRef>
                      </c:ext>
                    </c:extLst>
                    <c:strCache>
                      <c:ptCount val="1"/>
                      <c:pt idx="0">
                        <c:v>Revenue %</c:v>
                      </c:pt>
                    </c:strCache>
                  </c:strRef>
                </c:tx>
                <c:spPr>
                  <a:solidFill>
                    <a:schemeClr val="accent2"/>
                  </a:solidFill>
                  <a:ln>
                    <a:noFill/>
                  </a:ln>
                  <a:effectLst/>
                </c:spPr>
                <c:invertIfNegative val="0"/>
                <c:cat>
                  <c:strRef>
                    <c:extLst>
                      <c:ext uri="{02D57815-91ED-43cb-92C2-25804820EDAC}">
                        <c15:formulaRef>
                          <c15:sqref>'ABC classification'!$B$17:$B$21</c15:sqref>
                        </c15:formulaRef>
                      </c:ext>
                    </c:extLst>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extLst>
                      <c:ext uri="{02D57815-91ED-43cb-92C2-25804820EDAC}">
                        <c15:formulaRef>
                          <c15:sqref>'ABC classification'!$D$17:$D$21</c15:sqref>
                        </c15:formulaRef>
                      </c:ext>
                    </c:extLst>
                    <c:numCache>
                      <c:formatCode>0%</c:formatCode>
                      <c:ptCount val="5"/>
                      <c:pt idx="0">
                        <c:v>0.31316898829064321</c:v>
                      </c:pt>
                      <c:pt idx="1">
                        <c:v>0.20996279259173314</c:v>
                      </c:pt>
                      <c:pt idx="2">
                        <c:v>0.18773730955517184</c:v>
                      </c:pt>
                      <c:pt idx="3">
                        <c:v>0.16167477699442401</c:v>
                      </c:pt>
                      <c:pt idx="4">
                        <c:v>0.12745613256802779</c:v>
                      </c:pt>
                    </c:numCache>
                  </c:numRef>
                </c:val>
                <c:extLst>
                  <c:ext xmlns:c16="http://schemas.microsoft.com/office/drawing/2014/chart" uri="{C3380CC4-5D6E-409C-BE32-E72D297353CC}">
                    <c16:uniqueId val="{00000006-10C1-43D8-B26F-36BD97BCE0D2}"/>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'ABC classification'!$E$16</c15:sqref>
                        </c15:formulaRef>
                      </c:ext>
                    </c:extLst>
                    <c:strCache>
                      <c:ptCount val="1"/>
                      <c:pt idx="0">
                        <c:v>Cumulative Revenue %</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'ABC classification'!$B$17:$B$21</c15:sqref>
                        </c15:formulaRef>
                      </c:ext>
                    </c:extLst>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extLst xmlns:c15="http://schemas.microsoft.com/office/drawing/2012/chart">
                      <c:ext xmlns:c15="http://schemas.microsoft.com/office/drawing/2012/chart" uri="{02D57815-91ED-43cb-92C2-25804820EDAC}">
                        <c15:formulaRef>
                          <c15:sqref>'ABC classification'!$E$17:$E$21</c15:sqref>
                        </c15:formulaRef>
                      </c:ext>
                    </c:extLst>
                    <c:numCache>
                      <c:formatCode>0%</c:formatCode>
                      <c:ptCount val="5"/>
                      <c:pt idx="0">
                        <c:v>0.31316898829064321</c:v>
                      </c:pt>
                      <c:pt idx="1">
                        <c:v>0.52313178088237633</c:v>
                      </c:pt>
                      <c:pt idx="2">
                        <c:v>0.7108690904375482</c:v>
                      </c:pt>
                      <c:pt idx="3">
                        <c:v>0.87254386743197221</c:v>
                      </c:pt>
                      <c:pt idx="4">
                        <c:v>1</c:v>
                      </c:pt>
                    </c:numCache>
                  </c:numRef>
                </c:val>
                <c:extLst xmlns:c15="http://schemas.microsoft.com/office/drawing/2012/chart">
                  <c:ext xmlns:c16="http://schemas.microsoft.com/office/drawing/2014/chart" uri="{C3380CC4-5D6E-409C-BE32-E72D297353CC}">
                    <c16:uniqueId val="{00000007-10C1-43D8-B26F-36BD97BCE0D2}"/>
                  </c:ext>
                </c:extLst>
              </c15:ser>
            </c15:filteredBarSeries>
          </c:ext>
        </c:extLst>
      </c:barChart>
      <c:catAx>
        <c:axId val="358707808"/>
        <c:scaling>
          <c:orientation val="minMax"/>
        </c:scaling>
        <c:delete val="0"/>
        <c:axPos val="b"/>
        <c:title>
          <c:tx>
            <c:rich>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r>
                  <a:rPr lang="en-US" sz="1050" b="1"/>
                  <a:t>Products</a:t>
                </a:r>
              </a:p>
            </c:rich>
          </c:tx>
          <c:layout>
            <c:manualLayout>
              <c:xMode val="edge"/>
              <c:yMode val="edge"/>
              <c:x val="0.47481821716729855"/>
              <c:y val="0.8876243301936303"/>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58721248"/>
        <c:crosses val="autoZero"/>
        <c:auto val="1"/>
        <c:lblAlgn val="ctr"/>
        <c:lblOffset val="100"/>
        <c:noMultiLvlLbl val="0"/>
      </c:catAx>
      <c:valAx>
        <c:axId val="3587212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r>
                  <a:rPr lang="en-US" sz="1100" b="1"/>
                  <a:t>Revenue</a:t>
                </a:r>
                <a:r>
                  <a:rPr lang="en-US" sz="1100" b="1" baseline="0"/>
                  <a:t> (Rupees)</a:t>
                </a:r>
                <a:endParaRPr lang="en-US" sz="1100" b="1"/>
              </a:p>
            </c:rich>
          </c:tx>
          <c:layout>
            <c:manualLayout>
              <c:xMode val="edge"/>
              <c:yMode val="edge"/>
              <c:x val="1.1068771088009079E-2"/>
              <c:y val="0.25967833601365969"/>
            </c:manualLayout>
          </c:layout>
          <c:overlay val="0"/>
          <c:spPr>
            <a:noFill/>
            <a:ln>
              <a:noFill/>
            </a:ln>
            <a:effectLst/>
          </c:spPr>
          <c:txPr>
            <a:bodyPr rot="-54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title>
        <c:numFmt formatCode="[$₹-4009]\ #,##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58707808"/>
        <c:crosses val="autoZero"/>
        <c:crossBetween val="between"/>
      </c:valAx>
      <c:spPr>
        <a:noFill/>
        <a:ln>
          <a:noFill/>
        </a:ln>
        <a:effectLst/>
      </c:spPr>
    </c:plotArea>
    <c:legend>
      <c:legendPos val="b"/>
      <c:layout>
        <c:manualLayout>
          <c:xMode val="edge"/>
          <c:yMode val="edge"/>
          <c:x val="0.61226829979585884"/>
          <c:y val="0.91064971943162276"/>
          <c:w val="0.20246613905699698"/>
          <c:h val="6.061464838446918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r>
              <a:rPr lang="en-US" b="1">
                <a:effectLst>
                  <a:outerShdw blurRad="38100" dist="38100" dir="2700000" algn="tl">
                    <a:srgbClr val="000000">
                      <a:alpha val="43137"/>
                    </a:srgbClr>
                  </a:outerShdw>
                </a:effectLst>
              </a:rPr>
              <a:t>ABC</a:t>
            </a:r>
            <a:r>
              <a:rPr lang="en-US" b="1" baseline="0">
                <a:effectLst>
                  <a:outerShdw blurRad="38100" dist="38100" dir="2700000" algn="tl">
                    <a:srgbClr val="000000">
                      <a:alpha val="43137"/>
                    </a:srgbClr>
                  </a:outerShdw>
                </a:effectLst>
              </a:rPr>
              <a:t> Categorization based on Sales</a:t>
            </a:r>
            <a:endParaRPr lang="en-US" b="1">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endParaRPr lang="en-US"/>
        </a:p>
      </c:txPr>
    </c:title>
    <c:autoTitleDeleted val="0"/>
    <c:plotArea>
      <c:layout/>
      <c:barChart>
        <c:barDir val="col"/>
        <c:grouping val="clustered"/>
        <c:varyColors val="0"/>
        <c:ser>
          <c:idx val="0"/>
          <c:order val="0"/>
          <c:tx>
            <c:strRef>
              <c:f>'ABC classification'!$C$4</c:f>
              <c:strCache>
                <c:ptCount val="1"/>
                <c:pt idx="0">
                  <c:v>Total Sales</c:v>
                </c:pt>
              </c:strCache>
            </c:strRef>
          </c:tx>
          <c:spPr>
            <a:solidFill>
              <a:srgbClr val="FFC000"/>
            </a:solidFill>
            <a:ln>
              <a:noFill/>
            </a:ln>
            <a:effectLst/>
          </c:spPr>
          <c:invertIfNegative val="0"/>
          <c:dLbls>
            <c:dLbl>
              <c:idx val="0"/>
              <c:tx>
                <c:rich>
                  <a:bodyPr/>
                  <a:lstStyle/>
                  <a:p>
                    <a:fld id="{DBA8FD9E-F19D-4E0D-A78A-68F26E961A09}" type="CELLRANGE">
                      <a:rPr lang="en-US"/>
                      <a:pPr/>
                      <a:t>[CELLRANGE]</a:t>
                    </a:fld>
                    <a:r>
                      <a:rPr lang="en-US" baseline="0"/>
                      <a:t>, </a:t>
                    </a:r>
                    <a:fld id="{02FB454E-5D80-4DA2-B43A-948527F1202D}"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C3B2-4B29-8E06-941EB032EC96}"/>
                </c:ext>
              </c:extLst>
            </c:dLbl>
            <c:dLbl>
              <c:idx val="1"/>
              <c:tx>
                <c:rich>
                  <a:bodyPr/>
                  <a:lstStyle/>
                  <a:p>
                    <a:fld id="{1AFDD21A-1A79-4AAA-91FE-64374A937110}" type="CELLRANGE">
                      <a:rPr lang="en-US"/>
                      <a:pPr/>
                      <a:t>[CELLRANGE]</a:t>
                    </a:fld>
                    <a:r>
                      <a:rPr lang="en-US" baseline="0"/>
                      <a:t>, </a:t>
                    </a:r>
                    <a:fld id="{11D16455-7B9A-40CA-8BD2-438E1AC68A51}"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C3B2-4B29-8E06-941EB032EC96}"/>
                </c:ext>
              </c:extLst>
            </c:dLbl>
            <c:dLbl>
              <c:idx val="2"/>
              <c:tx>
                <c:rich>
                  <a:bodyPr/>
                  <a:lstStyle/>
                  <a:p>
                    <a:fld id="{DD0D7873-0BB8-43EB-BB57-BC82DA4CC393}" type="CELLRANGE">
                      <a:rPr lang="en-US"/>
                      <a:pPr/>
                      <a:t>[CELLRANGE]</a:t>
                    </a:fld>
                    <a:r>
                      <a:rPr lang="en-US" baseline="0"/>
                      <a:t>, </a:t>
                    </a:r>
                    <a:fld id="{6411EB1C-5221-4AAC-93F5-96A20BEB77BE}"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C3B2-4B29-8E06-941EB032EC96}"/>
                </c:ext>
              </c:extLst>
            </c:dLbl>
            <c:dLbl>
              <c:idx val="3"/>
              <c:tx>
                <c:rich>
                  <a:bodyPr/>
                  <a:lstStyle/>
                  <a:p>
                    <a:fld id="{ED6A0E79-DA71-49BC-9CCE-BBB195319EE0}" type="CELLRANGE">
                      <a:rPr lang="en-US"/>
                      <a:pPr/>
                      <a:t>[CELLRANGE]</a:t>
                    </a:fld>
                    <a:r>
                      <a:rPr lang="en-US" baseline="0"/>
                      <a:t>, </a:t>
                    </a:r>
                    <a:fld id="{F35852D1-05A3-4D78-993A-B153EE2EFF3B}"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C3B2-4B29-8E06-941EB032EC96}"/>
                </c:ext>
              </c:extLst>
            </c:dLbl>
            <c:dLbl>
              <c:idx val="4"/>
              <c:tx>
                <c:rich>
                  <a:bodyPr/>
                  <a:lstStyle/>
                  <a:p>
                    <a:fld id="{E988D1C3-71E8-4CCC-9C3F-6DC9898A6336}" type="CELLRANGE">
                      <a:rPr lang="en-US"/>
                      <a:pPr/>
                      <a:t>[CELLRANGE]</a:t>
                    </a:fld>
                    <a:r>
                      <a:rPr lang="en-US" baseline="0"/>
                      <a:t>, </a:t>
                    </a:r>
                    <a:fld id="{0693638A-21DF-4D23-A0AF-139151ADAA8D}"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C3B2-4B29-8E06-941EB032EC96}"/>
                </c:ext>
              </c:extLst>
            </c:dLbl>
            <c:numFmt formatCode="General"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'ABC classification'!$B$5:$B$9</c:f>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f>'ABC classification'!$C$5:$C$9</c:f>
              <c:numCache>
                <c:formatCode>General</c:formatCode>
                <c:ptCount val="5"/>
                <c:pt idx="0">
                  <c:v>3987</c:v>
                </c:pt>
                <c:pt idx="1">
                  <c:v>2732</c:v>
                </c:pt>
                <c:pt idx="2">
                  <c:v>2492</c:v>
                </c:pt>
                <c:pt idx="3">
                  <c:v>1722</c:v>
                </c:pt>
                <c:pt idx="4">
                  <c:v>1707</c:v>
                </c:pt>
              </c:numCache>
            </c:numRef>
          </c:val>
          <c:extLst>
            <c:ext xmlns:c15="http://schemas.microsoft.com/office/drawing/2012/chart" uri="{02D57815-91ED-43cb-92C2-25804820EDAC}">
              <c15:datalabelsRange>
                <c15:f>'ABC classification'!$F$5:$F$9</c15:f>
                <c15:dlblRangeCache>
                  <c:ptCount val="5"/>
                  <c:pt idx="0">
                    <c:v>A</c:v>
                  </c:pt>
                  <c:pt idx="1">
                    <c:v>A</c:v>
                  </c:pt>
                  <c:pt idx="2">
                    <c:v>B</c:v>
                  </c:pt>
                  <c:pt idx="3">
                    <c:v>B</c:v>
                  </c:pt>
                  <c:pt idx="4">
                    <c:v>C</c:v>
                  </c:pt>
                </c15:dlblRangeCache>
              </c15:datalabelsRange>
            </c:ext>
            <c:ext xmlns:c16="http://schemas.microsoft.com/office/drawing/2014/chart" uri="{C3380CC4-5D6E-409C-BE32-E72D297353CC}">
              <c16:uniqueId val="{00000005-C3B2-4B29-8E06-941EB032EC96}"/>
            </c:ext>
          </c:extLst>
        </c:ser>
        <c:dLbls>
          <c:showLegendKey val="0"/>
          <c:showVal val="0"/>
          <c:showCatName val="0"/>
          <c:showSerName val="0"/>
          <c:showPercent val="0"/>
          <c:showBubbleSize val="0"/>
        </c:dLbls>
        <c:gapWidth val="219"/>
        <c:overlap val="-27"/>
        <c:axId val="810743168"/>
        <c:axId val="810738848"/>
        <c:extLst>
          <c:ext xmlns:c15="http://schemas.microsoft.com/office/drawing/2012/chart" uri="{02D57815-91ED-43cb-92C2-25804820EDAC}">
            <c15:filteredBarSeries>
              <c15:ser>
                <c:idx val="1"/>
                <c:order val="1"/>
                <c:tx>
                  <c:strRef>
                    <c:extLst>
                      <c:ext uri="{02D57815-91ED-43cb-92C2-25804820EDAC}">
                        <c15:formulaRef>
                          <c15:sqref>'ABC classification'!$D$4</c15:sqref>
                        </c15:formulaRef>
                      </c:ext>
                    </c:extLst>
                    <c:strCache>
                      <c:ptCount val="1"/>
                      <c:pt idx="0">
                        <c:v>Sales %</c:v>
                      </c:pt>
                    </c:strCache>
                  </c:strRef>
                </c:tx>
                <c:spPr>
                  <a:solidFill>
                    <a:schemeClr val="accent2"/>
                  </a:solidFill>
                  <a:ln>
                    <a:noFill/>
                  </a:ln>
                  <a:effectLst/>
                </c:spPr>
                <c:invertIfNegative val="0"/>
                <c:cat>
                  <c:strRef>
                    <c:extLst>
                      <c:ext uri="{02D57815-91ED-43cb-92C2-25804820EDAC}">
                        <c15:formulaRef>
                          <c15:sqref>'ABC classification'!$B$5:$B$9</c15:sqref>
                        </c15:formulaRef>
                      </c:ext>
                    </c:extLst>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extLst>
                      <c:ext uri="{02D57815-91ED-43cb-92C2-25804820EDAC}">
                        <c15:formulaRef>
                          <c15:sqref>'ABC classification'!$D$5:$D$9</c15:sqref>
                        </c15:formulaRef>
                      </c:ext>
                    </c:extLst>
                    <c:numCache>
                      <c:formatCode>0%</c:formatCode>
                      <c:ptCount val="5"/>
                      <c:pt idx="0">
                        <c:v>0.31542721518987343</c:v>
                      </c:pt>
                      <c:pt idx="1">
                        <c:v>0.21613924050632913</c:v>
                      </c:pt>
                      <c:pt idx="2">
                        <c:v>0.19715189873417721</c:v>
                      </c:pt>
                      <c:pt idx="3">
                        <c:v>0.13623417721518988</c:v>
                      </c:pt>
                      <c:pt idx="4">
                        <c:v>0.13504746835443038</c:v>
                      </c:pt>
                    </c:numCache>
                  </c:numRef>
                </c:val>
                <c:extLst>
                  <c:ext xmlns:c16="http://schemas.microsoft.com/office/drawing/2014/chart" uri="{C3380CC4-5D6E-409C-BE32-E72D297353CC}">
                    <c16:uniqueId val="{00000006-C3B2-4B29-8E06-941EB032EC96}"/>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'ABC classification'!$E$4</c15:sqref>
                        </c15:formulaRef>
                      </c:ext>
                    </c:extLst>
                    <c:strCache>
                      <c:ptCount val="1"/>
                      <c:pt idx="0">
                        <c:v>Cumulative Sales%</c:v>
                      </c:pt>
                    </c:strCache>
                  </c:strRef>
                </c:tx>
                <c:spPr>
                  <a:solidFill>
                    <a:schemeClr val="accent3"/>
                  </a:solidFill>
                  <a:ln>
                    <a:noFill/>
                  </a:ln>
                  <a:effectLst/>
                </c:spPr>
                <c:invertIfNegative val="0"/>
                <c:cat>
                  <c:strRef>
                    <c:extLst xmlns:c15="http://schemas.microsoft.com/office/drawing/2012/chart">
                      <c:ext xmlns:c15="http://schemas.microsoft.com/office/drawing/2012/chart" uri="{02D57815-91ED-43cb-92C2-25804820EDAC}">
                        <c15:formulaRef>
                          <c15:sqref>'ABC classification'!$B$5:$B$9</c15:sqref>
                        </c15:formulaRef>
                      </c:ext>
                    </c:extLst>
                    <c:strCache>
                      <c:ptCount val="5"/>
                      <c:pt idx="0">
                        <c:v>SRI VENGADESH PERUMAL TRADERS - Jaggery balls</c:v>
                      </c:pt>
                      <c:pt idx="1">
                        <c:v>BHARATI TRADERS - Jaggery Nuts </c:v>
                      </c:pt>
                      <c:pt idx="2">
                        <c:v>SRI JAYA BHARATI TRADERS - Jaggery Nuts</c:v>
                      </c:pt>
                      <c:pt idx="3">
                        <c:v>SRI DHARANI TRADERS - Jaggery balls</c:v>
                      </c:pt>
                      <c:pt idx="4">
                        <c:v>RESHMA TRADERS - Jaggery Nuts</c:v>
                      </c:pt>
                    </c:strCache>
                  </c:strRef>
                </c:cat>
                <c:val>
                  <c:numRef>
                    <c:extLst xmlns:c15="http://schemas.microsoft.com/office/drawing/2012/chart">
                      <c:ext xmlns:c15="http://schemas.microsoft.com/office/drawing/2012/chart" uri="{02D57815-91ED-43cb-92C2-25804820EDAC}">
                        <c15:formulaRef>
                          <c15:sqref>'ABC classification'!$E$5:$E$9</c15:sqref>
                        </c15:formulaRef>
                      </c:ext>
                    </c:extLst>
                    <c:numCache>
                      <c:formatCode>0%</c:formatCode>
                      <c:ptCount val="5"/>
                      <c:pt idx="0">
                        <c:v>0.31542721518987343</c:v>
                      </c:pt>
                      <c:pt idx="1">
                        <c:v>0.53156645569620253</c:v>
                      </c:pt>
                      <c:pt idx="2">
                        <c:v>0.72871835443037969</c:v>
                      </c:pt>
                      <c:pt idx="3">
                        <c:v>0.86495253164556951</c:v>
                      </c:pt>
                      <c:pt idx="4">
                        <c:v>0.99999999999999989</c:v>
                      </c:pt>
                    </c:numCache>
                  </c:numRef>
                </c:val>
                <c:extLst xmlns:c15="http://schemas.microsoft.com/office/drawing/2012/chart">
                  <c:ext xmlns:c16="http://schemas.microsoft.com/office/drawing/2014/chart" uri="{C3380CC4-5D6E-409C-BE32-E72D297353CC}">
                    <c16:uniqueId val="{00000007-C3B2-4B29-8E06-941EB032EC96}"/>
                  </c:ext>
                </c:extLst>
              </c15:ser>
            </c15:filteredBarSeries>
          </c:ext>
        </c:extLst>
      </c:barChart>
      <c:catAx>
        <c:axId val="810743168"/>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Products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738848"/>
        <c:crosses val="autoZero"/>
        <c:auto val="1"/>
        <c:lblAlgn val="ctr"/>
        <c:lblOffset val="100"/>
        <c:noMultiLvlLbl val="0"/>
      </c:catAx>
      <c:valAx>
        <c:axId val="8107388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sz="1000" b="1"/>
                  <a:t>Units Sold(Sales)</a:t>
                </a:r>
              </a:p>
            </c:rich>
          </c:tx>
          <c:layout>
            <c:manualLayout>
              <c:xMode val="edge"/>
              <c:yMode val="edge"/>
              <c:x val="1.0980393513094768E-2"/>
              <c:y val="0.34290047818385672"/>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743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r>
              <a:rPr lang="en-US" sz="1400" b="1" i="0" u="none" strike="noStrike" kern="1200" spc="0" baseline="0">
                <a:solidFill>
                  <a:sysClr val="windowText" lastClr="000000">
                    <a:lumMod val="65000"/>
                    <a:lumOff val="35000"/>
                  </a:sysClr>
                </a:solidFill>
                <a:effectLst>
                  <a:outerShdw blurRad="38100" dist="38100" dir="2700000" algn="tl">
                    <a:srgbClr val="000000">
                      <a:alpha val="43137"/>
                    </a:srgbClr>
                  </a:outerShdw>
                </a:effectLst>
              </a:rPr>
              <a:t>Sales Trend For Each Items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effectLst>
                <a:outerShdw blurRad="38100" dist="38100" dir="2700000" algn="tl">
                  <a:srgbClr val="000000">
                    <a:alpha val="43137"/>
                  </a:srgbClr>
                </a:outerShdw>
              </a:effectLst>
              <a:latin typeface="+mn-lt"/>
              <a:ea typeface="+mn-ea"/>
              <a:cs typeface="+mn-cs"/>
            </a:defRPr>
          </a:pPr>
          <a:endParaRPr lang="en-US"/>
        </a:p>
      </c:txPr>
    </c:title>
    <c:autoTitleDeleted val="0"/>
    <c:plotArea>
      <c:layout>
        <c:manualLayout>
          <c:layoutTarget val="inner"/>
          <c:xMode val="edge"/>
          <c:yMode val="edge"/>
          <c:x val="7.9366427830830935E-2"/>
          <c:y val="9.3722051342659721E-2"/>
          <c:w val="0.91840405433302641"/>
          <c:h val="0.75100483350733005"/>
        </c:manualLayout>
      </c:layout>
      <c:barChart>
        <c:barDir val="col"/>
        <c:grouping val="clustered"/>
        <c:varyColors val="0"/>
        <c:ser>
          <c:idx val="0"/>
          <c:order val="0"/>
          <c:tx>
            <c:strRef>
              <c:f>Analysis!$J$4</c:f>
              <c:strCache>
                <c:ptCount val="1"/>
                <c:pt idx="0">
                  <c:v>BHARATI TRADERS - Jaggery Nuts </c:v>
                </c:pt>
              </c:strCache>
            </c:strRef>
          </c:tx>
          <c:spPr>
            <a:solidFill>
              <a:schemeClr val="accent1"/>
            </a:solidFill>
            <a:ln>
              <a:noFill/>
            </a:ln>
            <a:effectLst/>
          </c:spPr>
          <c:invertIfNegative val="0"/>
          <c:cat>
            <c:strRef>
              <c:f>Analysis!$K$3:$V$3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Analysis!$K$4:$V$4</c:f>
              <c:numCache>
                <c:formatCode>General</c:formatCode>
                <c:ptCount val="12"/>
                <c:pt idx="0">
                  <c:v>422</c:v>
                </c:pt>
                <c:pt idx="1">
                  <c:v>205</c:v>
                </c:pt>
                <c:pt idx="2">
                  <c:v>235</c:v>
                </c:pt>
                <c:pt idx="3">
                  <c:v>615</c:v>
                </c:pt>
                <c:pt idx="4">
                  <c:v>303</c:v>
                </c:pt>
                <c:pt idx="5">
                  <c:v>474</c:v>
                </c:pt>
                <c:pt idx="6">
                  <c:v>205</c:v>
                </c:pt>
                <c:pt idx="7">
                  <c:v>103</c:v>
                </c:pt>
                <c:pt idx="8">
                  <c:v>127</c:v>
                </c:pt>
                <c:pt idx="9">
                  <c:v>43</c:v>
                </c:pt>
                <c:pt idx="10">
                  <c:v>0</c:v>
                </c:pt>
                <c:pt idx="11">
                  <c:v>0</c:v>
                </c:pt>
              </c:numCache>
            </c:numRef>
          </c:val>
          <c:extLst>
            <c:ext xmlns:c16="http://schemas.microsoft.com/office/drawing/2014/chart" uri="{C3380CC4-5D6E-409C-BE32-E72D297353CC}">
              <c16:uniqueId val="{00000000-5636-492A-9AD7-14EB71220CC7}"/>
            </c:ext>
          </c:extLst>
        </c:ser>
        <c:ser>
          <c:idx val="1"/>
          <c:order val="1"/>
          <c:tx>
            <c:strRef>
              <c:f>Analysis!$J$5</c:f>
              <c:strCache>
                <c:ptCount val="1"/>
                <c:pt idx="0">
                  <c:v>SRI JAYA BHARATI TRADERS - Jaggery Nuts</c:v>
                </c:pt>
              </c:strCache>
            </c:strRef>
          </c:tx>
          <c:spPr>
            <a:solidFill>
              <a:schemeClr val="accent2"/>
            </a:solidFill>
            <a:ln>
              <a:noFill/>
            </a:ln>
            <a:effectLst/>
          </c:spPr>
          <c:invertIfNegative val="0"/>
          <c:cat>
            <c:strRef>
              <c:f>Analysis!$K$3:$V$3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Analysis!$K$5:$V$5</c:f>
              <c:numCache>
                <c:formatCode>General</c:formatCode>
                <c:ptCount val="12"/>
                <c:pt idx="0">
                  <c:v>76</c:v>
                </c:pt>
                <c:pt idx="1">
                  <c:v>167</c:v>
                </c:pt>
                <c:pt idx="2">
                  <c:v>92</c:v>
                </c:pt>
                <c:pt idx="3">
                  <c:v>0</c:v>
                </c:pt>
                <c:pt idx="4">
                  <c:v>196</c:v>
                </c:pt>
                <c:pt idx="5">
                  <c:v>0</c:v>
                </c:pt>
                <c:pt idx="6">
                  <c:v>77</c:v>
                </c:pt>
                <c:pt idx="7">
                  <c:v>309</c:v>
                </c:pt>
                <c:pt idx="8">
                  <c:v>291</c:v>
                </c:pt>
                <c:pt idx="9">
                  <c:v>358</c:v>
                </c:pt>
                <c:pt idx="10">
                  <c:v>463</c:v>
                </c:pt>
                <c:pt idx="11">
                  <c:v>463</c:v>
                </c:pt>
              </c:numCache>
            </c:numRef>
          </c:val>
          <c:extLst>
            <c:ext xmlns:c16="http://schemas.microsoft.com/office/drawing/2014/chart" uri="{C3380CC4-5D6E-409C-BE32-E72D297353CC}">
              <c16:uniqueId val="{00000001-5636-492A-9AD7-14EB71220CC7}"/>
            </c:ext>
          </c:extLst>
        </c:ser>
        <c:ser>
          <c:idx val="2"/>
          <c:order val="2"/>
          <c:tx>
            <c:strRef>
              <c:f>Analysis!$J$6</c:f>
              <c:strCache>
                <c:ptCount val="1"/>
                <c:pt idx="0">
                  <c:v>RESHMA TRADERS - Jaggery Nuts</c:v>
                </c:pt>
              </c:strCache>
            </c:strRef>
          </c:tx>
          <c:spPr>
            <a:solidFill>
              <a:schemeClr val="accent3"/>
            </a:solidFill>
            <a:ln>
              <a:noFill/>
            </a:ln>
            <a:effectLst/>
          </c:spPr>
          <c:invertIfNegative val="0"/>
          <c:cat>
            <c:strRef>
              <c:f>Analysis!$K$3:$V$3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Analysis!$K$6:$V$6</c:f>
              <c:numCache>
                <c:formatCode>General</c:formatCode>
                <c:ptCount val="12"/>
                <c:pt idx="0">
                  <c:v>244</c:v>
                </c:pt>
                <c:pt idx="1">
                  <c:v>200</c:v>
                </c:pt>
                <c:pt idx="2">
                  <c:v>123</c:v>
                </c:pt>
                <c:pt idx="3">
                  <c:v>185</c:v>
                </c:pt>
                <c:pt idx="4">
                  <c:v>154</c:v>
                </c:pt>
                <c:pt idx="5">
                  <c:v>72</c:v>
                </c:pt>
                <c:pt idx="6">
                  <c:v>270</c:v>
                </c:pt>
                <c:pt idx="7">
                  <c:v>145</c:v>
                </c:pt>
                <c:pt idx="8">
                  <c:v>120</c:v>
                </c:pt>
                <c:pt idx="9">
                  <c:v>86</c:v>
                </c:pt>
                <c:pt idx="10">
                  <c:v>68</c:v>
                </c:pt>
                <c:pt idx="11">
                  <c:v>40</c:v>
                </c:pt>
              </c:numCache>
            </c:numRef>
          </c:val>
          <c:extLst>
            <c:ext xmlns:c16="http://schemas.microsoft.com/office/drawing/2014/chart" uri="{C3380CC4-5D6E-409C-BE32-E72D297353CC}">
              <c16:uniqueId val="{00000005-5636-492A-9AD7-14EB71220CC7}"/>
            </c:ext>
          </c:extLst>
        </c:ser>
        <c:ser>
          <c:idx val="3"/>
          <c:order val="3"/>
          <c:tx>
            <c:strRef>
              <c:f>Analysis!$J$7</c:f>
              <c:strCache>
                <c:ptCount val="1"/>
                <c:pt idx="0">
                  <c:v>SRI DHARANI TRADERS - Jaggery balls</c:v>
                </c:pt>
              </c:strCache>
            </c:strRef>
          </c:tx>
          <c:spPr>
            <a:solidFill>
              <a:schemeClr val="accent4"/>
            </a:solidFill>
            <a:ln>
              <a:noFill/>
            </a:ln>
            <a:effectLst/>
          </c:spPr>
          <c:invertIfNegative val="0"/>
          <c:cat>
            <c:strRef>
              <c:f>Analysis!$K$3:$V$3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Analysis!$K$7:$V$7</c:f>
              <c:numCache>
                <c:formatCode>General</c:formatCode>
                <c:ptCount val="12"/>
                <c:pt idx="0">
                  <c:v>95</c:v>
                </c:pt>
                <c:pt idx="1">
                  <c:v>253</c:v>
                </c:pt>
                <c:pt idx="2">
                  <c:v>97</c:v>
                </c:pt>
                <c:pt idx="3">
                  <c:v>0</c:v>
                </c:pt>
                <c:pt idx="4">
                  <c:v>260</c:v>
                </c:pt>
                <c:pt idx="5">
                  <c:v>120</c:v>
                </c:pt>
                <c:pt idx="6">
                  <c:v>112</c:v>
                </c:pt>
                <c:pt idx="7">
                  <c:v>0</c:v>
                </c:pt>
                <c:pt idx="8">
                  <c:v>139</c:v>
                </c:pt>
                <c:pt idx="9">
                  <c:v>266</c:v>
                </c:pt>
                <c:pt idx="10">
                  <c:v>106</c:v>
                </c:pt>
                <c:pt idx="11">
                  <c:v>274</c:v>
                </c:pt>
              </c:numCache>
            </c:numRef>
          </c:val>
          <c:extLst>
            <c:ext xmlns:c16="http://schemas.microsoft.com/office/drawing/2014/chart" uri="{C3380CC4-5D6E-409C-BE32-E72D297353CC}">
              <c16:uniqueId val="{00000006-5636-492A-9AD7-14EB71220CC7}"/>
            </c:ext>
          </c:extLst>
        </c:ser>
        <c:ser>
          <c:idx val="4"/>
          <c:order val="4"/>
          <c:tx>
            <c:strRef>
              <c:f>Analysis!$J$8</c:f>
              <c:strCache>
                <c:ptCount val="1"/>
                <c:pt idx="0">
                  <c:v>SRI VENGADESH PERUMAL TRADERS - Jaggery balls</c:v>
                </c:pt>
              </c:strCache>
            </c:strRef>
          </c:tx>
          <c:spPr>
            <a:solidFill>
              <a:schemeClr val="tx1">
                <a:lumMod val="95000"/>
                <a:lumOff val="5000"/>
              </a:schemeClr>
            </a:solidFill>
            <a:ln>
              <a:solidFill>
                <a:schemeClr val="tx1">
                  <a:lumMod val="85000"/>
                  <a:lumOff val="15000"/>
                </a:schemeClr>
              </a:solidFill>
            </a:ln>
            <a:effectLst/>
          </c:spPr>
          <c:invertIfNegative val="0"/>
          <c:dLbls>
            <c:dLbl>
              <c:idx val="1"/>
              <c:layout>
                <c:manualLayout>
                  <c:x val="8.2394203155373158E-3"/>
                  <c:y val="-4.801075695633687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636-492A-9AD7-14EB71220CC7}"/>
                </c:ext>
              </c:extLst>
            </c:dLbl>
            <c:dLbl>
              <c:idx val="4"/>
              <c:layout>
                <c:manualLayout>
                  <c:x val="5.8853002253838283E-3"/>
                  <c:y val="-7.580645835211084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636-492A-9AD7-14EB71220CC7}"/>
                </c:ext>
              </c:extLst>
            </c:dLbl>
            <c:dLbl>
              <c:idx val="9"/>
              <c:layout>
                <c:manualLayout>
                  <c:x val="1.5301780585997952E-2"/>
                  <c:y val="-2.526881945070361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636-492A-9AD7-14EB71220CC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Analysis!$K$3:$V$3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Analysis!$K$8:$V$8</c:f>
              <c:numCache>
                <c:formatCode>General</c:formatCode>
                <c:ptCount val="12"/>
                <c:pt idx="0">
                  <c:v>814</c:v>
                </c:pt>
                <c:pt idx="1">
                  <c:v>221</c:v>
                </c:pt>
                <c:pt idx="2">
                  <c:v>199</c:v>
                </c:pt>
                <c:pt idx="3">
                  <c:v>339</c:v>
                </c:pt>
                <c:pt idx="4">
                  <c:v>289</c:v>
                </c:pt>
                <c:pt idx="5">
                  <c:v>193</c:v>
                </c:pt>
                <c:pt idx="6">
                  <c:v>363</c:v>
                </c:pt>
                <c:pt idx="7">
                  <c:v>351</c:v>
                </c:pt>
                <c:pt idx="8">
                  <c:v>261</c:v>
                </c:pt>
                <c:pt idx="9">
                  <c:v>225</c:v>
                </c:pt>
                <c:pt idx="10">
                  <c:v>360</c:v>
                </c:pt>
                <c:pt idx="11">
                  <c:v>372</c:v>
                </c:pt>
              </c:numCache>
            </c:numRef>
          </c:val>
          <c:extLst>
            <c:ext xmlns:c16="http://schemas.microsoft.com/office/drawing/2014/chart" uri="{C3380CC4-5D6E-409C-BE32-E72D297353CC}">
              <c16:uniqueId val="{0000000A-5636-492A-9AD7-14EB71220CC7}"/>
            </c:ext>
          </c:extLst>
        </c:ser>
        <c:dLbls>
          <c:showLegendKey val="0"/>
          <c:showVal val="0"/>
          <c:showCatName val="0"/>
          <c:showSerName val="0"/>
          <c:showPercent val="0"/>
          <c:showBubbleSize val="0"/>
        </c:dLbls>
        <c:gapWidth val="219"/>
        <c:overlap val="-27"/>
        <c:axId val="999453392"/>
        <c:axId val="999470192"/>
      </c:barChart>
      <c:catAx>
        <c:axId val="9994533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1" i="0" u="none" strike="noStrike" kern="1200" baseline="0">
                    <a:solidFill>
                      <a:sysClr val="windowText" lastClr="000000">
                        <a:lumMod val="65000"/>
                        <a:lumOff val="35000"/>
                      </a:sysClr>
                    </a:solidFill>
                  </a:rPr>
                  <a:t>Month</a:t>
                </a:r>
              </a:p>
            </c:rich>
          </c:tx>
          <c:layout>
            <c:manualLayout>
              <c:xMode val="edge"/>
              <c:yMode val="edge"/>
              <c:x val="6.3826634873434037E-3"/>
              <c:y val="0.9055145817833757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9470192"/>
        <c:crosses val="autoZero"/>
        <c:auto val="1"/>
        <c:lblAlgn val="ctr"/>
        <c:lblOffset val="100"/>
        <c:noMultiLvlLbl val="0"/>
      </c:catAx>
      <c:valAx>
        <c:axId val="9994701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50" b="1" i="0" u="none" strike="noStrike" kern="1200" baseline="0">
                    <a:solidFill>
                      <a:sysClr val="windowText" lastClr="000000">
                        <a:lumMod val="65000"/>
                        <a:lumOff val="35000"/>
                      </a:sysClr>
                    </a:solidFill>
                  </a:rPr>
                  <a:t>Units Sold(Sales)</a:t>
                </a:r>
                <a:endParaRPr lang="en-US" sz="1050"/>
              </a:p>
            </c:rich>
          </c:tx>
          <c:layout>
            <c:manualLayout>
              <c:xMode val="edge"/>
              <c:yMode val="edge"/>
              <c:x val="1.8199770724727497E-4"/>
              <c:y val="0.3686604640149331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9453392"/>
        <c:crosses val="autoZero"/>
        <c:crossBetween val="between"/>
      </c:valAx>
      <c:spPr>
        <a:noFill/>
        <a:ln>
          <a:noFill/>
        </a:ln>
        <a:effectLst/>
      </c:spPr>
    </c:plotArea>
    <c:legend>
      <c:legendPos val="b"/>
      <c:layout>
        <c:manualLayout>
          <c:xMode val="edge"/>
          <c:yMode val="edge"/>
          <c:x val="0.38722689658202153"/>
          <c:y val="9.9797710167436784E-2"/>
          <c:w val="0.61162190162113605"/>
          <c:h val="0.2095614276381391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effectLst>
                  <a:outerShdw blurRad="38100" dist="38100" dir="2700000" algn="tl">
                    <a:srgbClr val="000000">
                      <a:alpha val="43137"/>
                    </a:srgbClr>
                  </a:outerShdw>
                </a:effectLst>
                <a:latin typeface="+mn-lt"/>
                <a:ea typeface="+mn-ea"/>
                <a:cs typeface="+mn-cs"/>
              </a:defRPr>
            </a:pPr>
            <a:r>
              <a:rPr lang="en-US">
                <a:effectLst>
                  <a:outerShdw blurRad="38100" dist="38100" dir="2700000" algn="tl">
                    <a:srgbClr val="000000">
                      <a:alpha val="43137"/>
                    </a:srgbClr>
                  </a:outerShdw>
                </a:effectLst>
              </a:rPr>
              <a:t>Sales</a:t>
            </a:r>
            <a:r>
              <a:rPr lang="en-US" baseline="0">
                <a:effectLst>
                  <a:outerShdw blurRad="38100" dist="38100" dir="2700000" algn="tl">
                    <a:srgbClr val="000000">
                      <a:alpha val="43137"/>
                    </a:srgbClr>
                  </a:outerShdw>
                </a:effectLst>
              </a:rPr>
              <a:t> To No Sales Day for Each Product</a:t>
            </a:r>
            <a:endParaRPr lang="en-US">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effectLst>
                <a:outerShdw blurRad="38100" dist="38100" dir="2700000" algn="tl">
                  <a:srgbClr val="000000">
                    <a:alpha val="43137"/>
                  </a:srgbClr>
                </a:outerShdw>
              </a:effectLst>
              <a:latin typeface="+mn-lt"/>
              <a:ea typeface="+mn-ea"/>
              <a:cs typeface="+mn-cs"/>
            </a:defRPr>
          </a:pPr>
          <a:endParaRPr lang="en-US"/>
        </a:p>
      </c:txPr>
    </c:title>
    <c:autoTitleDeleted val="0"/>
    <c:plotArea>
      <c:layout>
        <c:manualLayout>
          <c:layoutTarget val="inner"/>
          <c:xMode val="edge"/>
          <c:yMode val="edge"/>
          <c:x val="0.43220049577136194"/>
          <c:y val="0.20540253558981064"/>
          <c:w val="0.53276246719160103"/>
          <c:h val="0.54194807964925629"/>
        </c:manualLayout>
      </c:layout>
      <c:barChart>
        <c:barDir val="bar"/>
        <c:grouping val="clustered"/>
        <c:varyColors val="0"/>
        <c:ser>
          <c:idx val="0"/>
          <c:order val="0"/>
          <c:tx>
            <c:strRef>
              <c:f>Analysis!$R$78</c:f>
              <c:strCache>
                <c:ptCount val="1"/>
                <c:pt idx="0">
                  <c:v>Sales Days (1 Year)</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Analysis!$Q$79:$Q$83</c:f>
              <c:strCache>
                <c:ptCount val="5"/>
                <c:pt idx="0">
                  <c:v>BHARATI TRADERS - Jaggery Nuts </c:v>
                </c:pt>
                <c:pt idx="1">
                  <c:v>SRI JAYA BHARATI TRADERS - Jaggery Nuts</c:v>
                </c:pt>
                <c:pt idx="2">
                  <c:v>RESHMA TRADERS - Jaggery Nuts</c:v>
                </c:pt>
                <c:pt idx="3">
                  <c:v>SRI DHARANI TRADERS - Jaggery balls</c:v>
                </c:pt>
                <c:pt idx="4">
                  <c:v>SRI VENGADESH PERUMAL TRADERS - Jaggery balls</c:v>
                </c:pt>
              </c:strCache>
            </c:strRef>
          </c:cat>
          <c:val>
            <c:numRef>
              <c:f>Analysis!$R$79:$R$83</c:f>
              <c:numCache>
                <c:formatCode>General</c:formatCode>
                <c:ptCount val="5"/>
                <c:pt idx="0">
                  <c:v>144</c:v>
                </c:pt>
                <c:pt idx="1">
                  <c:v>139</c:v>
                </c:pt>
                <c:pt idx="2">
                  <c:v>100</c:v>
                </c:pt>
                <c:pt idx="3">
                  <c:v>114</c:v>
                </c:pt>
                <c:pt idx="4">
                  <c:v>224</c:v>
                </c:pt>
              </c:numCache>
            </c:numRef>
          </c:val>
          <c:extLst>
            <c:ext xmlns:c16="http://schemas.microsoft.com/office/drawing/2014/chart" uri="{C3380CC4-5D6E-409C-BE32-E72D297353CC}">
              <c16:uniqueId val="{00000000-BD87-416F-A226-7D441A3F432B}"/>
            </c:ext>
          </c:extLst>
        </c:ser>
        <c:ser>
          <c:idx val="1"/>
          <c:order val="1"/>
          <c:tx>
            <c:strRef>
              <c:f>Analysis!$S$78</c:f>
              <c:strCache>
                <c:ptCount val="1"/>
                <c:pt idx="0">
                  <c:v>No Sales Days (1 Year)</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Analysis!$Q$79:$Q$83</c:f>
              <c:strCache>
                <c:ptCount val="5"/>
                <c:pt idx="0">
                  <c:v>BHARATI TRADERS - Jaggery Nuts </c:v>
                </c:pt>
                <c:pt idx="1">
                  <c:v>SRI JAYA BHARATI TRADERS - Jaggery Nuts</c:v>
                </c:pt>
                <c:pt idx="2">
                  <c:v>RESHMA TRADERS - Jaggery Nuts</c:v>
                </c:pt>
                <c:pt idx="3">
                  <c:v>SRI DHARANI TRADERS - Jaggery balls</c:v>
                </c:pt>
                <c:pt idx="4">
                  <c:v>SRI VENGADESH PERUMAL TRADERS - Jaggery balls</c:v>
                </c:pt>
              </c:strCache>
            </c:strRef>
          </c:cat>
          <c:val>
            <c:numRef>
              <c:f>Analysis!$S$79:$S$83</c:f>
              <c:numCache>
                <c:formatCode>General</c:formatCode>
                <c:ptCount val="5"/>
                <c:pt idx="0">
                  <c:v>55</c:v>
                </c:pt>
                <c:pt idx="1">
                  <c:v>57</c:v>
                </c:pt>
                <c:pt idx="2">
                  <c:v>96</c:v>
                </c:pt>
                <c:pt idx="3">
                  <c:v>73</c:v>
                </c:pt>
                <c:pt idx="4">
                  <c:v>90</c:v>
                </c:pt>
              </c:numCache>
            </c:numRef>
          </c:val>
          <c:extLst>
            <c:ext xmlns:c16="http://schemas.microsoft.com/office/drawing/2014/chart" uri="{C3380CC4-5D6E-409C-BE32-E72D297353CC}">
              <c16:uniqueId val="{00000001-BD87-416F-A226-7D441A3F432B}"/>
            </c:ext>
          </c:extLst>
        </c:ser>
        <c:dLbls>
          <c:showLegendKey val="0"/>
          <c:showVal val="0"/>
          <c:showCatName val="0"/>
          <c:showSerName val="0"/>
          <c:showPercent val="0"/>
          <c:showBubbleSize val="0"/>
        </c:dLbls>
        <c:gapWidth val="100"/>
        <c:axId val="1153209680"/>
        <c:axId val="1153209200"/>
      </c:barChart>
      <c:catAx>
        <c:axId val="1153209680"/>
        <c:scaling>
          <c:orientation val="minMax"/>
        </c:scaling>
        <c:delete val="0"/>
        <c:axPos val="l"/>
        <c:title>
          <c:tx>
            <c:rich>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sz="1200"/>
                  <a:t>Jaggery </a:t>
                </a:r>
                <a:r>
                  <a:rPr lang="en-US" sz="1200" baseline="0"/>
                  <a:t> </a:t>
                </a:r>
                <a:r>
                  <a:rPr lang="en-US" sz="1200"/>
                  <a:t>Categories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153209200"/>
        <c:crosses val="autoZero"/>
        <c:auto val="1"/>
        <c:lblAlgn val="ctr"/>
        <c:lblOffset val="100"/>
        <c:noMultiLvlLbl val="0"/>
      </c:catAx>
      <c:valAx>
        <c:axId val="1153209200"/>
        <c:scaling>
          <c:orientation val="minMax"/>
        </c:scaling>
        <c:delete val="0"/>
        <c:axPos val="b"/>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r>
                  <a:rPr lang="en-US" sz="1200"/>
                  <a:t>Units</a:t>
                </a:r>
                <a:r>
                  <a:rPr lang="en-US" sz="1200" baseline="0"/>
                  <a:t> Sold</a:t>
                </a:r>
                <a:endParaRPr lang="en-US" sz="1200"/>
              </a:p>
            </c:rich>
          </c:tx>
          <c:overlay val="0"/>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153209680"/>
        <c:crosses val="autoZero"/>
        <c:crossBetween val="between"/>
      </c:valAx>
      <c:spPr>
        <a:noFill/>
        <a:ln>
          <a:noFill/>
        </a:ln>
        <a:effectLst/>
      </c:spPr>
    </c:plotArea>
    <c:legend>
      <c:legendPos val="b"/>
      <c:layout>
        <c:manualLayout>
          <c:xMode val="edge"/>
          <c:yMode val="edge"/>
          <c:x val="0.22950029163021288"/>
          <c:y val="0.89667302746204269"/>
          <c:w val="0.39655482648002333"/>
          <c:h val="8.2767370940945786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1400" b="0" i="0" u="none" strike="noStrike" kern="1200" spc="0" baseline="0" dirty="0">
                <a:solidFill>
                  <a:sysClr val="windowText" lastClr="000000">
                    <a:lumMod val="65000"/>
                    <a:lumOff val="35000"/>
                  </a:sysClr>
                </a:solidFill>
              </a:rPr>
              <a:t>Price Comparison Client vs Competitor </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r>
              <a:rPr lang="en-US" sz="1400" b="0" i="0" u="none" strike="noStrike" kern="1200" spc="0" baseline="0" dirty="0">
                <a:solidFill>
                  <a:sysClr val="windowText" lastClr="000000">
                    <a:lumMod val="65000"/>
                    <a:lumOff val="35000"/>
                  </a:sysClr>
                </a:solidFill>
              </a:rPr>
              <a:t> for Product -  Bharati Traders(Jaggery Nuts)</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endParaRPr lang="en-US" dirty="0"/>
          </a:p>
        </c:rich>
      </c:tx>
      <c:layout>
        <c:manualLayout>
          <c:xMode val="edge"/>
          <c:yMode val="edge"/>
          <c:x val="0.25592452628073548"/>
          <c:y val="5.4963489411505289E-3"/>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manualLayout>
          <c:layoutTarget val="inner"/>
          <c:xMode val="edge"/>
          <c:yMode val="edge"/>
          <c:x val="0.13981995919437112"/>
          <c:y val="0.16402947986192978"/>
          <c:w val="0.86018004080562893"/>
          <c:h val="0.58033228451968011"/>
        </c:manualLayout>
      </c:layout>
      <c:lineChart>
        <c:grouping val="standard"/>
        <c:varyColors val="0"/>
        <c:ser>
          <c:idx val="0"/>
          <c:order val="0"/>
          <c:tx>
            <c:strRef>
              <c:f>'Competitor Price Comparison'!$C$1</c:f>
              <c:strCache>
                <c:ptCount val="1"/>
                <c:pt idx="0">
                  <c:v>Client</c:v>
                </c:pt>
              </c:strCache>
            </c:strRef>
          </c:tx>
          <c:spPr>
            <a:ln w="28575" cap="rnd">
              <a:solidFill>
                <a:srgbClr val="92D050"/>
              </a:solidFill>
              <a:round/>
            </a:ln>
            <a:effectLst/>
          </c:spPr>
          <c:marker>
            <c:symbol val="circle"/>
            <c:size val="5"/>
            <c:spPr>
              <a:solidFill>
                <a:srgbClr val="92D050"/>
              </a:solidFill>
              <a:ln w="9525">
                <a:solidFill>
                  <a:schemeClr val="accent1"/>
                </a:solidFill>
              </a:ln>
              <a:effectLst/>
            </c:spPr>
          </c:marker>
          <c:cat>
            <c:strRef>
              <c:f>'Competitor Price Comparison'!$B$2:$B$13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'Competitor Price Comparison'!$C$2:$C$13</c:f>
              <c:numCache>
                <c:formatCode>_ [$₹-4009]\ * #,##0.00_ ;_ [$₹-4009]\ * \-#,##0.00_ ;_ [$₹-4009]\ * "-"??_ ;_ @_ </c:formatCode>
                <c:ptCount val="12"/>
                <c:pt idx="0">
                  <c:v>1464.324644549763</c:v>
                </c:pt>
                <c:pt idx="1">
                  <c:v>1233.6585365853659</c:v>
                </c:pt>
                <c:pt idx="2">
                  <c:v>1287.8510638297873</c:v>
                </c:pt>
                <c:pt idx="3">
                  <c:v>1312.9756097560976</c:v>
                </c:pt>
                <c:pt idx="4">
                  <c:v>1439.7029702970297</c:v>
                </c:pt>
                <c:pt idx="5">
                  <c:v>1376.4240506329113</c:v>
                </c:pt>
                <c:pt idx="6">
                  <c:v>1253.560975609756</c:v>
                </c:pt>
                <c:pt idx="7">
                  <c:v>1250</c:v>
                </c:pt>
                <c:pt idx="8">
                  <c:v>1380</c:v>
                </c:pt>
                <c:pt idx="9">
                  <c:v>1420</c:v>
                </c:pt>
                <c:pt idx="10">
                  <c:v>0</c:v>
                </c:pt>
                <c:pt idx="11">
                  <c:v>0</c:v>
                </c:pt>
              </c:numCache>
            </c:numRef>
          </c:val>
          <c:smooth val="0"/>
          <c:extLst>
            <c:ext xmlns:c16="http://schemas.microsoft.com/office/drawing/2014/chart" uri="{C3380CC4-5D6E-409C-BE32-E72D297353CC}">
              <c16:uniqueId val="{00000008-914C-434E-86A7-10301D60F89C}"/>
            </c:ext>
          </c:extLst>
        </c:ser>
        <c:ser>
          <c:idx val="1"/>
          <c:order val="1"/>
          <c:tx>
            <c:strRef>
              <c:f>'Competitor Price Comparison'!$D$1</c:f>
              <c:strCache>
                <c:ptCount val="1"/>
                <c:pt idx="0">
                  <c:v>Competitor</c:v>
                </c:pt>
              </c:strCache>
            </c:strRef>
          </c:tx>
          <c:spPr>
            <a:ln w="28575" cap="rnd">
              <a:solidFill>
                <a:srgbClr val="C00000"/>
              </a:solidFill>
              <a:round/>
            </a:ln>
            <a:effectLst/>
          </c:spPr>
          <c:marker>
            <c:symbol val="circle"/>
            <c:size val="5"/>
            <c:spPr>
              <a:solidFill>
                <a:srgbClr val="C00000"/>
              </a:solidFill>
              <a:ln w="9525">
                <a:solidFill>
                  <a:schemeClr val="accent2"/>
                </a:solidFill>
              </a:ln>
              <a:effectLst/>
            </c:spPr>
          </c:marker>
          <c:dPt>
            <c:idx val="3"/>
            <c:marker>
              <c:symbol val="circle"/>
              <c:size val="5"/>
              <c:spPr>
                <a:solidFill>
                  <a:srgbClr val="C00000"/>
                </a:solidFill>
                <a:ln w="9525">
                  <a:solidFill>
                    <a:srgbClr val="C00000"/>
                  </a:solidFill>
                </a:ln>
                <a:effectLst/>
              </c:spPr>
            </c:marker>
            <c:bubble3D val="0"/>
            <c:extLst>
              <c:ext xmlns:c16="http://schemas.microsoft.com/office/drawing/2014/chart" uri="{C3380CC4-5D6E-409C-BE32-E72D297353CC}">
                <c16:uniqueId val="{0000000B-914C-434E-86A7-10301D60F89C}"/>
              </c:ext>
            </c:extLst>
          </c:dPt>
          <c:cat>
            <c:strRef>
              <c:f>'Competitor Price Comparison'!$B$2:$B$13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'Competitor Price Comparison'!$D$2:$D$13</c:f>
              <c:numCache>
                <c:formatCode>_ [$₹-4009]\ * #,##0.00_ ;_ [$₹-4009]\ * \-#,##0.00_ ;_ [$₹-4009]\ * "-"??_ ;_ @_ </c:formatCode>
                <c:ptCount val="12"/>
                <c:pt idx="0">
                  <c:v>1493.6111374407583</c:v>
                </c:pt>
                <c:pt idx="1">
                  <c:v>1258.3317073170733</c:v>
                </c:pt>
                <c:pt idx="2">
                  <c:v>1313.608085106383</c:v>
                </c:pt>
                <c:pt idx="3">
                  <c:v>1339.2351219512195</c:v>
                </c:pt>
                <c:pt idx="4">
                  <c:v>1468.4970297029702</c:v>
                </c:pt>
                <c:pt idx="5">
                  <c:v>0</c:v>
                </c:pt>
                <c:pt idx="6">
                  <c:v>1234.7575609756097</c:v>
                </c:pt>
                <c:pt idx="7">
                  <c:v>1231.25</c:v>
                </c:pt>
                <c:pt idx="8">
                  <c:v>1359.3</c:v>
                </c:pt>
                <c:pt idx="9">
                  <c:v>0</c:v>
                </c:pt>
                <c:pt idx="10">
                  <c:v>1410</c:v>
                </c:pt>
                <c:pt idx="11">
                  <c:v>1400</c:v>
                </c:pt>
              </c:numCache>
            </c:numRef>
          </c:val>
          <c:smooth val="0"/>
          <c:extLst>
            <c:ext xmlns:c16="http://schemas.microsoft.com/office/drawing/2014/chart" uri="{C3380CC4-5D6E-409C-BE32-E72D297353CC}">
              <c16:uniqueId val="{00000012-914C-434E-86A7-10301D60F89C}"/>
            </c:ext>
          </c:extLst>
        </c:ser>
        <c:dLbls>
          <c:showLegendKey val="0"/>
          <c:showVal val="0"/>
          <c:showCatName val="0"/>
          <c:showSerName val="0"/>
          <c:showPercent val="0"/>
          <c:showBubbleSize val="0"/>
        </c:dLbls>
        <c:marker val="1"/>
        <c:smooth val="0"/>
        <c:axId val="936706640"/>
        <c:axId val="936713840"/>
      </c:lineChart>
      <c:catAx>
        <c:axId val="936706640"/>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Months</a:t>
                </a:r>
              </a:p>
            </c:rich>
          </c:tx>
          <c:layout>
            <c:manualLayout>
              <c:xMode val="edge"/>
              <c:yMode val="edge"/>
              <c:x val="0.29768825876444371"/>
              <c:y val="0.914525023110651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713840"/>
        <c:crosses val="autoZero"/>
        <c:auto val="1"/>
        <c:lblAlgn val="ctr"/>
        <c:lblOffset val="100"/>
        <c:noMultiLvlLbl val="0"/>
      </c:catAx>
      <c:valAx>
        <c:axId val="936713840"/>
        <c:scaling>
          <c:orientation val="minMax"/>
          <c:min val="12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Unit</a:t>
                </a:r>
                <a:r>
                  <a:rPr lang="en-US" baseline="0"/>
                  <a:t> Price (Rupees)</a:t>
                </a:r>
                <a:endParaRPr lang="en-US"/>
              </a:p>
            </c:rich>
          </c:tx>
          <c:layout>
            <c:manualLayout>
              <c:xMode val="edge"/>
              <c:yMode val="edge"/>
              <c:x val="9.3796869141357338E-4"/>
              <c:y val="0.3513401123939262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39]#,##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706640"/>
        <c:crosses val="autoZero"/>
        <c:crossBetween val="between"/>
      </c:valAx>
      <c:spPr>
        <a:noFill/>
        <a:ln>
          <a:noFill/>
        </a:ln>
        <a:effectLst/>
      </c:spPr>
    </c:plotArea>
    <c:legend>
      <c:legendPos val="b"/>
      <c:layout>
        <c:manualLayout>
          <c:xMode val="edge"/>
          <c:yMode val="edge"/>
          <c:x val="0.66018110412420472"/>
          <c:y val="0.93666310353653215"/>
          <c:w val="0.319579680110607"/>
          <c:h val="5.377666701796119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a:t>
            </a:r>
            <a:br>
              <a:rPr lang="en-US"/>
            </a:br>
            <a:r>
              <a:rPr lang="en-US"/>
              <a:t>Bharati Traders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54495957856041"/>
          <c:y val="0.26130928639004358"/>
          <c:w val="0.81693340984186591"/>
          <c:h val="0.38933531957097584"/>
        </c:manualLayout>
      </c:layout>
      <c:barChart>
        <c:barDir val="col"/>
        <c:grouping val="clustered"/>
        <c:varyColors val="0"/>
        <c:ser>
          <c:idx val="0"/>
          <c:order val="0"/>
          <c:tx>
            <c:strRef>
              <c:f>Analysis!$C$1</c:f>
              <c:strCache>
                <c:ptCount val="1"/>
                <c:pt idx="0">
                  <c:v>Sales</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Analysis!$B$2:$B$13</c:f>
              <c:strCache>
                <c:ptCount val="12"/>
                <c:pt idx="0">
                  <c:v>April</c:v>
                </c:pt>
                <c:pt idx="1">
                  <c:v>May</c:v>
                </c:pt>
                <c:pt idx="2">
                  <c:v>June</c:v>
                </c:pt>
                <c:pt idx="3">
                  <c:v>July</c:v>
                </c:pt>
                <c:pt idx="4">
                  <c:v>August</c:v>
                </c:pt>
                <c:pt idx="5">
                  <c:v>September</c:v>
                </c:pt>
                <c:pt idx="6">
                  <c:v>October</c:v>
                </c:pt>
                <c:pt idx="7">
                  <c:v>November</c:v>
                </c:pt>
                <c:pt idx="8">
                  <c:v>December</c:v>
                </c:pt>
                <c:pt idx="9">
                  <c:v>January</c:v>
                </c:pt>
                <c:pt idx="10">
                  <c:v>February</c:v>
                </c:pt>
                <c:pt idx="11">
                  <c:v>March</c:v>
                </c:pt>
              </c:strCache>
            </c:strRef>
          </c:cat>
          <c:val>
            <c:numRef>
              <c:f>Analysis!$C$2:$C$13</c:f>
              <c:numCache>
                <c:formatCode>General</c:formatCode>
                <c:ptCount val="12"/>
                <c:pt idx="0">
                  <c:v>422</c:v>
                </c:pt>
                <c:pt idx="1">
                  <c:v>205</c:v>
                </c:pt>
                <c:pt idx="2">
                  <c:v>235</c:v>
                </c:pt>
                <c:pt idx="3">
                  <c:v>615</c:v>
                </c:pt>
                <c:pt idx="4">
                  <c:v>303</c:v>
                </c:pt>
                <c:pt idx="5">
                  <c:v>474</c:v>
                </c:pt>
                <c:pt idx="6">
                  <c:v>205</c:v>
                </c:pt>
                <c:pt idx="7">
                  <c:v>103</c:v>
                </c:pt>
                <c:pt idx="8">
                  <c:v>127</c:v>
                </c:pt>
                <c:pt idx="9">
                  <c:v>43</c:v>
                </c:pt>
                <c:pt idx="10">
                  <c:v>0</c:v>
                </c:pt>
                <c:pt idx="11">
                  <c:v>0</c:v>
                </c:pt>
              </c:numCache>
            </c:numRef>
          </c:val>
          <c:extLst>
            <c:ext xmlns:c16="http://schemas.microsoft.com/office/drawing/2014/chart" uri="{C3380CC4-5D6E-409C-BE32-E72D297353CC}">
              <c16:uniqueId val="{00000000-0BFB-4E25-A44D-25420C00E0F5}"/>
            </c:ext>
          </c:extLst>
        </c:ser>
        <c:dLbls>
          <c:showLegendKey val="0"/>
          <c:showVal val="0"/>
          <c:showCatName val="0"/>
          <c:showSerName val="0"/>
          <c:showPercent val="0"/>
          <c:showBubbleSize val="0"/>
        </c:dLbls>
        <c:gapWidth val="219"/>
        <c:overlap val="-27"/>
        <c:axId val="494230719"/>
        <c:axId val="494234559"/>
      </c:barChart>
      <c:catAx>
        <c:axId val="49423071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Months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4234559"/>
        <c:crosses val="autoZero"/>
        <c:auto val="1"/>
        <c:lblAlgn val="ctr"/>
        <c:lblOffset val="100"/>
        <c:noMultiLvlLbl val="0"/>
      </c:catAx>
      <c:valAx>
        <c:axId val="4942345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Units</a:t>
                </a:r>
                <a:r>
                  <a:rPr lang="en-US" b="1" baseline="0"/>
                  <a:t> Sold</a:t>
                </a:r>
                <a:endParaRPr lang="en-US" b="1"/>
              </a:p>
            </c:rich>
          </c:tx>
          <c:layout>
            <c:manualLayout>
              <c:xMode val="edge"/>
              <c:yMode val="edge"/>
              <c:x val="3.3701811135761262E-3"/>
              <c:y val="0.3670541712382344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42307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8/26/2025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8/26/2025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8/26/2025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8/26/2025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8/26/2025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8/26/2025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8/26/2025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8/26/2025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8/26/2025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8/26/2025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8/26/2025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8/26/2025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hyperlink" Target="https://colab.research.google.com/drive/1t4_eJjGpUkeIavs9zBgo1vMwvfan1hOm?usp=drive_link" TargetMode="External"/><Relationship Id="rId5" Type="http://schemas.openxmlformats.org/officeDocument/2006/relationships/hyperlink" Target="https://1drv.ms/x/c/6b8cd95d36a6738f/Ee4P-hmUhPdFkMPgShXppf8BKzjwg5t0cJyoJ2cy5EotlA?e=FFbdoZ" TargetMode="External"/><Relationship Id="rId4" Type="http://schemas.openxmlformats.org/officeDocument/2006/relationships/hyperlink" Target="https://1drv.ms/x/c/84a830334c750038/ESKa2gFE5AxJtR1u5LpMNBkBsFdbbsY0dIy3hiZDpOr1-w?e=23KLI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4" Type="http://schemas.openxmlformats.org/officeDocument/2006/relationships/hyperlink" Target="https://1drv.ms/x/c/6b8cd95d36a6738f/Ee4P-hmUhPdFkMPgShXppf8BKzjwg5t0cJyoJ2cy5EotlA?e=FFbdoZ"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312095" y="263404"/>
            <a:ext cx="6253317" cy="3090694"/>
          </a:xfrm>
        </p:spPr>
        <p:txBody>
          <a:bodyPr>
            <a:normAutofit/>
          </a:bodyPr>
          <a:lstStyle/>
          <a:p>
            <a:pPr>
              <a:lnSpc>
                <a:spcPct val="100000"/>
              </a:lnSpc>
            </a:pPr>
            <a:r>
              <a:rPr lang="en-US" sz="3600" dirty="0">
                <a:latin typeface="Times New Roman" panose="02020603050405020304" pitchFamily="18" charset="0"/>
                <a:cs typeface="Times New Roman" panose="02020603050405020304" pitchFamily="18" charset="0"/>
              </a:rPr>
              <a:t>Strategic Growth and Revenue Stabilization: Enhancing Customer Retention and Inventory Management </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4312095" y="4578090"/>
            <a:ext cx="6754489" cy="1607741"/>
          </a:xfrm>
        </p:spPr>
        <p:txBody>
          <a:bodyPr numCol="1">
            <a:normAutofit fontScale="70000" lnSpcReduction="20000"/>
          </a:bodyPr>
          <a:lstStyle/>
          <a:p>
            <a: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t>Name : Sinan ameer s h                </a:t>
            </a:r>
            <a:b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br>
            <a:b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br>
            <a: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t>Roll No : 21f3000581</a:t>
            </a:r>
            <a:b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br>
            <a:b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br>
            <a: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t>Business data </a:t>
            </a:r>
            <a:b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br>
            <a:r>
              <a:rPr lang="en-US" sz="2300" b="1" dirty="0">
                <a:solidFill>
                  <a:schemeClr val="tx1">
                    <a:lumMod val="85000"/>
                    <a:lumOff val="15000"/>
                  </a:schemeClr>
                </a:solidFill>
                <a:latin typeface="Times New Roman" panose="02020603050405020304" pitchFamily="18" charset="0"/>
                <a:cs typeface="Times New Roman" panose="02020603050405020304" pitchFamily="18" charset="0"/>
              </a:rPr>
              <a:t>management project</a:t>
            </a:r>
            <a:br>
              <a:rPr lang="en-US" sz="1600" dirty="0">
                <a:solidFill>
                  <a:schemeClr val="tx1">
                    <a:lumMod val="85000"/>
                    <a:lumOff val="15000"/>
                  </a:schemeClr>
                </a:solidFill>
                <a:latin typeface="Times New Roman" panose="02020603050405020304" pitchFamily="18" charset="0"/>
                <a:cs typeface="Times New Roman" panose="02020603050405020304" pitchFamily="18" charset="0"/>
              </a:rPr>
            </a:br>
            <a:endParaRPr lang="en-US" sz="16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082717"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CBDD598-C34A-A77F-7A66-94888DA58A18}"/>
              </a:ext>
            </a:extLst>
          </p:cNvPr>
          <p:cNvPicPr/>
          <p:nvPr/>
        </p:nvPicPr>
        <p:blipFill>
          <a:blip r:embed="rId3"/>
          <a:stretch>
            <a:fillRect/>
          </a:stretch>
        </p:blipFill>
        <p:spPr>
          <a:xfrm>
            <a:off x="8783052" y="3442336"/>
            <a:ext cx="3083457" cy="3152260"/>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E8D414-BE0F-381B-B78E-4A5052311045}"/>
              </a:ext>
            </a:extLst>
          </p:cNvPr>
          <p:cNvSpPr txBox="1"/>
          <p:nvPr/>
        </p:nvSpPr>
        <p:spPr>
          <a:xfrm>
            <a:off x="360947" y="160421"/>
            <a:ext cx="5510464"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Organization</a:t>
            </a:r>
            <a:r>
              <a:rPr lang="en-US" sz="24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Background</a:t>
            </a:r>
          </a:p>
        </p:txBody>
      </p:sp>
      <p:sp>
        <p:nvSpPr>
          <p:cNvPr id="4" name="TextBox 3">
            <a:extLst>
              <a:ext uri="{FF2B5EF4-FFF2-40B4-BE49-F238E27FC236}">
                <a16:creationId xmlns:a16="http://schemas.microsoft.com/office/drawing/2014/main" id="{54FC7A82-6D19-1DAF-ABF4-8B150BFEB66F}"/>
              </a:ext>
            </a:extLst>
          </p:cNvPr>
          <p:cNvSpPr txBox="1"/>
          <p:nvPr/>
        </p:nvSpPr>
        <p:spPr>
          <a:xfrm>
            <a:off x="360947" y="1548063"/>
            <a:ext cx="6890085" cy="3970318"/>
          </a:xfrm>
          <a:prstGeom prst="rect">
            <a:avLst/>
          </a:prstGeom>
          <a:noFill/>
        </p:spPr>
        <p:txBody>
          <a:bodyPr wrap="square" rtlCol="0">
            <a:spAutoFit/>
          </a:bodyPr>
          <a:lstStyle/>
          <a:p>
            <a:pPr marL="285750" indent="-285750">
              <a:buFont typeface="Arial" panose="020B0604020202020204" pitchFamily="34" charset="0"/>
              <a:buChar char="•"/>
            </a:pPr>
            <a:r>
              <a:rPr lang="en-US" dirty="0"/>
              <a:t>‘S’ and ‘S’ Brothers, a key wholesale dealer in jaggery, is located in Kozhikode Big Bazaar in Kerala. The business deals in B2B as well as B2C in the segment of ‘Food and Grains’ with an experience of more than 8 years.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owner has over 25 years of experience in the jaggery trade. Before starting this venture, he was in a partnership business with his older brothers in the same industry.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 and ‘S’ Brothers offers high-quality, FSSAI-certified jaggery products, ensuring safety and compliance with food standards. </a:t>
            </a:r>
            <a:br>
              <a:rPr lang="en-US" dirty="0"/>
            </a:br>
            <a:endParaRPr lang="en-US" dirty="0"/>
          </a:p>
          <a:p>
            <a:pPr marL="285750" indent="-285750">
              <a:buFont typeface="Arial" panose="020B0604020202020204" pitchFamily="34" charset="0"/>
              <a:buChar char="•"/>
            </a:pPr>
            <a:r>
              <a:rPr lang="en-US" dirty="0"/>
              <a:t>The venture has struggled with sharp revenue fluctuations due to inconsistent pricing and inefficient stock forecasting.</a:t>
            </a:r>
          </a:p>
        </p:txBody>
      </p:sp>
      <p:pic>
        <p:nvPicPr>
          <p:cNvPr id="10" name="Picture 9">
            <a:extLst>
              <a:ext uri="{FF2B5EF4-FFF2-40B4-BE49-F238E27FC236}">
                <a16:creationId xmlns:a16="http://schemas.microsoft.com/office/drawing/2014/main" id="{19DC8B96-CC7E-3E29-2007-0864D2EE5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180" y="160421"/>
            <a:ext cx="4311316" cy="3368842"/>
          </a:xfrm>
          <a:prstGeom prst="rect">
            <a:avLst/>
          </a:prstGeom>
        </p:spPr>
      </p:pic>
      <p:pic>
        <p:nvPicPr>
          <p:cNvPr id="12" name="Picture 11">
            <a:extLst>
              <a:ext uri="{FF2B5EF4-FFF2-40B4-BE49-F238E27FC236}">
                <a16:creationId xmlns:a16="http://schemas.microsoft.com/office/drawing/2014/main" id="{314C9627-F20F-0370-43C8-B26B5A1E0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8180" y="3601452"/>
            <a:ext cx="4311317" cy="2703095"/>
          </a:xfrm>
          <a:prstGeom prst="rect">
            <a:avLst/>
          </a:prstGeom>
        </p:spPr>
      </p:pic>
    </p:spTree>
    <p:extLst>
      <p:ext uri="{BB962C8B-B14F-4D97-AF65-F5344CB8AC3E}">
        <p14:creationId xmlns:p14="http://schemas.microsoft.com/office/powerpoint/2010/main" val="219489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093F6-D852-4F71-AF8A-E3C070947466}"/>
              </a:ext>
            </a:extLst>
          </p:cNvPr>
          <p:cNvSpPr txBox="1"/>
          <p:nvPr/>
        </p:nvSpPr>
        <p:spPr>
          <a:xfrm>
            <a:off x="529389" y="421104"/>
            <a:ext cx="4170948" cy="369332"/>
          </a:xfrm>
          <a:prstGeom prst="rect">
            <a:avLst/>
          </a:prstGeom>
          <a:solidFill>
            <a:schemeClr val="accent4">
              <a:lumMod val="60000"/>
              <a:lumOff val="40000"/>
            </a:schemeClr>
          </a:solidFill>
          <a:effectLst>
            <a:glow rad="139700">
              <a:schemeClr val="accent4">
                <a:satMod val="175000"/>
                <a:alpha val="40000"/>
              </a:schemeClr>
            </a:glow>
          </a:effectLst>
        </p:spPr>
        <p:txBody>
          <a:bodyPr wrap="square" rtlCol="0">
            <a:spAutoFit/>
          </a:bodyPr>
          <a:lstStyle/>
          <a:p>
            <a:r>
              <a:rPr lang="en-US" b="1" dirty="0">
                <a:latin typeface="Times New Roman" panose="02020603050405020304" pitchFamily="18" charset="0"/>
                <a:cs typeface="Times New Roman" panose="02020603050405020304" pitchFamily="18" charset="0"/>
              </a:rPr>
              <a:t>Problem 1 :   Revenue Instability</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53ADBC2-1A04-B3B5-C726-629ED59D2545}"/>
              </a:ext>
            </a:extLst>
          </p:cNvPr>
          <p:cNvSpPr txBox="1"/>
          <p:nvPr/>
        </p:nvSpPr>
        <p:spPr>
          <a:xfrm>
            <a:off x="7074571" y="356909"/>
            <a:ext cx="4170949" cy="646331"/>
          </a:xfrm>
          <a:prstGeom prst="rect">
            <a:avLst/>
          </a:prstGeom>
          <a:solidFill>
            <a:schemeClr val="accent4">
              <a:lumMod val="60000"/>
              <a:lumOff val="40000"/>
            </a:schemeClr>
          </a:solidFill>
          <a:effectLst>
            <a:glow rad="139700">
              <a:schemeClr val="accent4">
                <a:satMod val="175000"/>
                <a:alpha val="40000"/>
              </a:schemeClr>
            </a:glow>
          </a:effectLst>
        </p:spPr>
        <p:txBody>
          <a:bodyPr wrap="square" rtlCol="0">
            <a:spAutoFit/>
          </a:bodyPr>
          <a:lstStyle/>
          <a:p>
            <a:r>
              <a:rPr lang="en-US" b="1" dirty="0">
                <a:latin typeface="Times New Roman" panose="02020603050405020304" pitchFamily="18" charset="0"/>
                <a:cs typeface="Times New Roman" panose="02020603050405020304" pitchFamily="18" charset="0"/>
              </a:rPr>
              <a:t>Problem 2 : Inefficient Inventory management</a:t>
            </a:r>
          </a:p>
        </p:txBody>
      </p:sp>
      <p:sp>
        <p:nvSpPr>
          <p:cNvPr id="6" name="TextBox 5">
            <a:extLst>
              <a:ext uri="{FF2B5EF4-FFF2-40B4-BE49-F238E27FC236}">
                <a16:creationId xmlns:a16="http://schemas.microsoft.com/office/drawing/2014/main" id="{AEBCE58F-75DA-6F42-8788-BE2D9035EFB3}"/>
              </a:ext>
            </a:extLst>
          </p:cNvPr>
          <p:cNvSpPr txBox="1"/>
          <p:nvPr/>
        </p:nvSpPr>
        <p:spPr>
          <a:xfrm>
            <a:off x="529390" y="3109728"/>
            <a:ext cx="4170947" cy="369332"/>
          </a:xfrm>
          <a:prstGeom prst="rect">
            <a:avLst/>
          </a:prstGeom>
          <a:solidFill>
            <a:schemeClr val="accent4">
              <a:lumMod val="60000"/>
              <a:lumOff val="40000"/>
            </a:schemeClr>
          </a:solidFill>
          <a:effectLst>
            <a:glow rad="139700">
              <a:schemeClr val="accent4">
                <a:satMod val="175000"/>
                <a:alpha val="40000"/>
              </a:schemeClr>
            </a:glow>
          </a:effectLst>
        </p:spPr>
        <p:txBody>
          <a:bodyPr wrap="square" rtlCol="0">
            <a:spAutoFit/>
          </a:bodyPr>
          <a:lstStyle/>
          <a:p>
            <a:r>
              <a:rPr lang="en-US" b="1" dirty="0">
                <a:latin typeface="Times New Roman" panose="02020603050405020304" pitchFamily="18" charset="0"/>
                <a:cs typeface="Times New Roman" panose="02020603050405020304" pitchFamily="18" charset="0"/>
              </a:rPr>
              <a:t>Problem 3 : Weak Marketing </a:t>
            </a:r>
          </a:p>
        </p:txBody>
      </p:sp>
      <p:sp>
        <p:nvSpPr>
          <p:cNvPr id="8" name="TextBox 7">
            <a:extLst>
              <a:ext uri="{FF2B5EF4-FFF2-40B4-BE49-F238E27FC236}">
                <a16:creationId xmlns:a16="http://schemas.microsoft.com/office/drawing/2014/main" id="{1BB85F99-E037-CB02-9E4B-D7F263367ECB}"/>
              </a:ext>
            </a:extLst>
          </p:cNvPr>
          <p:cNvSpPr txBox="1"/>
          <p:nvPr/>
        </p:nvSpPr>
        <p:spPr>
          <a:xfrm>
            <a:off x="7074571" y="3109728"/>
            <a:ext cx="4162927" cy="369332"/>
          </a:xfrm>
          <a:prstGeom prst="rect">
            <a:avLst/>
          </a:prstGeom>
          <a:solidFill>
            <a:schemeClr val="accent4">
              <a:lumMod val="60000"/>
              <a:lumOff val="40000"/>
            </a:schemeClr>
          </a:solidFill>
          <a:effectLst>
            <a:glow rad="139700">
              <a:schemeClr val="accent4">
                <a:satMod val="175000"/>
                <a:alpha val="40000"/>
              </a:schemeClr>
            </a:glow>
          </a:effectLst>
        </p:spPr>
        <p:txBody>
          <a:bodyPr wrap="square" rtlCol="0">
            <a:spAutoFit/>
          </a:bodyPr>
          <a:lstStyle/>
          <a:p>
            <a:r>
              <a:rPr lang="en-US" b="1" dirty="0">
                <a:latin typeface="Times New Roman" panose="02020603050405020304" pitchFamily="18" charset="0"/>
                <a:cs typeface="Times New Roman" panose="02020603050405020304" pitchFamily="18" charset="0"/>
              </a:rPr>
              <a:t>Problem 4 : Quality Issues</a:t>
            </a:r>
          </a:p>
        </p:txBody>
      </p:sp>
      <p:sp>
        <p:nvSpPr>
          <p:cNvPr id="11" name="Rectangle: Rounded Corners 10">
            <a:extLst>
              <a:ext uri="{FF2B5EF4-FFF2-40B4-BE49-F238E27FC236}">
                <a16:creationId xmlns:a16="http://schemas.microsoft.com/office/drawing/2014/main" id="{47920B36-9107-8A09-6A07-ED0E1AB15A7B}"/>
              </a:ext>
            </a:extLst>
          </p:cNvPr>
          <p:cNvSpPr/>
          <p:nvPr/>
        </p:nvSpPr>
        <p:spPr>
          <a:xfrm>
            <a:off x="529389" y="1091888"/>
            <a:ext cx="4588042" cy="1034716"/>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due to price fluctuations and increasing customer churn</a:t>
            </a:r>
          </a:p>
        </p:txBody>
      </p:sp>
      <p:sp>
        <p:nvSpPr>
          <p:cNvPr id="12" name="Rectangle: Rounded Corners 11">
            <a:extLst>
              <a:ext uri="{FF2B5EF4-FFF2-40B4-BE49-F238E27FC236}">
                <a16:creationId xmlns:a16="http://schemas.microsoft.com/office/drawing/2014/main" id="{DEB4A5A1-18E1-5DE6-0275-C9DCC7A1BD80}"/>
              </a:ext>
            </a:extLst>
          </p:cNvPr>
          <p:cNvSpPr/>
          <p:nvPr/>
        </p:nvSpPr>
        <p:spPr>
          <a:xfrm>
            <a:off x="7074571" y="1209795"/>
            <a:ext cx="4588042" cy="1437456"/>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Inefficient inventory management has resulted in stock imbalances, where high-demand products run out quickly while slower-moving items accumulate, affecting cash flow and profitability. </a:t>
            </a:r>
          </a:p>
        </p:txBody>
      </p:sp>
      <p:sp>
        <p:nvSpPr>
          <p:cNvPr id="16" name="Rectangle: Rounded Corners 15">
            <a:extLst>
              <a:ext uri="{FF2B5EF4-FFF2-40B4-BE49-F238E27FC236}">
                <a16:creationId xmlns:a16="http://schemas.microsoft.com/office/drawing/2014/main" id="{3E62C26D-C033-A8D2-93E3-F35D03E1F72B}"/>
              </a:ext>
            </a:extLst>
          </p:cNvPr>
          <p:cNvSpPr/>
          <p:nvPr/>
        </p:nvSpPr>
        <p:spPr>
          <a:xfrm>
            <a:off x="529389" y="3832193"/>
            <a:ext cx="4740442" cy="2203468"/>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t>with multiple traders offering similar </a:t>
            </a:r>
            <a:r>
              <a:rPr lang="en-US" dirty="0">
                <a:latin typeface="Times New Roman" panose="02020603050405020304" pitchFamily="18" charset="0"/>
                <a:cs typeface="Times New Roman" panose="02020603050405020304" pitchFamily="18" charset="0"/>
              </a:rPr>
              <a:t>products. This intense competition forces businesses to constantly adjust pricing to retain customers.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inability to maintain a consistent pricing strategy has resulted in customer loss to competitors offering lower prices. </a:t>
            </a:r>
          </a:p>
        </p:txBody>
      </p:sp>
      <p:sp>
        <p:nvSpPr>
          <p:cNvPr id="17" name="Rectangle: Rounded Corners 16">
            <a:extLst>
              <a:ext uri="{FF2B5EF4-FFF2-40B4-BE49-F238E27FC236}">
                <a16:creationId xmlns:a16="http://schemas.microsoft.com/office/drawing/2014/main" id="{EFAAD741-F0D6-4656-4788-17DAE0165598}"/>
              </a:ext>
            </a:extLst>
          </p:cNvPr>
          <p:cNvSpPr/>
          <p:nvPr/>
        </p:nvSpPr>
        <p:spPr>
          <a:xfrm>
            <a:off x="7002382" y="3832193"/>
            <a:ext cx="4307304" cy="1744398"/>
          </a:xfrm>
          <a:prstGeom prst="roundRect">
            <a:avLst/>
          </a:prstGeom>
          <a:effectLst>
            <a:outerShdw blurRad="63500" sx="102000" sy="102000" algn="ctr"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Inconsistent jaggery quality due to supplier variations affects customer trust and retention.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use of artificial colors and excess sugar to enhance appearance and shelf-life compromises product authenticity.</a:t>
            </a:r>
          </a:p>
        </p:txBody>
      </p:sp>
    </p:spTree>
    <p:extLst>
      <p:ext uri="{BB962C8B-B14F-4D97-AF65-F5344CB8AC3E}">
        <p14:creationId xmlns:p14="http://schemas.microsoft.com/office/powerpoint/2010/main" val="33815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68C476-8500-5260-E021-1773435CA70B}"/>
              </a:ext>
            </a:extLst>
          </p:cNvPr>
          <p:cNvSpPr txBox="1"/>
          <p:nvPr/>
        </p:nvSpPr>
        <p:spPr>
          <a:xfrm>
            <a:off x="216566" y="28453"/>
            <a:ext cx="6601328"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 Collection</a:t>
            </a:r>
          </a:p>
        </p:txBody>
      </p:sp>
      <p:pic>
        <p:nvPicPr>
          <p:cNvPr id="8" name="Picture 7">
            <a:extLst>
              <a:ext uri="{FF2B5EF4-FFF2-40B4-BE49-F238E27FC236}">
                <a16:creationId xmlns:a16="http://schemas.microsoft.com/office/drawing/2014/main" id="{16AD2482-9A95-7668-096F-1DBC07704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1033" y="320841"/>
            <a:ext cx="4507832" cy="2419350"/>
          </a:xfrm>
          <a:prstGeom prst="rect">
            <a:avLst/>
          </a:prstGeom>
        </p:spPr>
      </p:pic>
      <p:pic>
        <p:nvPicPr>
          <p:cNvPr id="10" name="Picture 9">
            <a:extLst>
              <a:ext uri="{FF2B5EF4-FFF2-40B4-BE49-F238E27FC236}">
                <a16:creationId xmlns:a16="http://schemas.microsoft.com/office/drawing/2014/main" id="{6562FF2B-D8BE-5F8D-B1FD-129C44D89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1033" y="2807370"/>
            <a:ext cx="4507832" cy="3256546"/>
          </a:xfrm>
          <a:prstGeom prst="rect">
            <a:avLst/>
          </a:prstGeom>
        </p:spPr>
      </p:pic>
      <p:sp>
        <p:nvSpPr>
          <p:cNvPr id="2" name="TextBox 1">
            <a:extLst>
              <a:ext uri="{FF2B5EF4-FFF2-40B4-BE49-F238E27FC236}">
                <a16:creationId xmlns:a16="http://schemas.microsoft.com/office/drawing/2014/main" id="{44B0E46C-8FCF-9259-69EF-B492C0D5615E}"/>
              </a:ext>
            </a:extLst>
          </p:cNvPr>
          <p:cNvSpPr txBox="1"/>
          <p:nvPr/>
        </p:nvSpPr>
        <p:spPr>
          <a:xfrm>
            <a:off x="216566" y="889843"/>
            <a:ext cx="6797844" cy="5078313"/>
          </a:xfrm>
          <a:prstGeom prst="rect">
            <a:avLst/>
          </a:prstGeom>
          <a:noFill/>
        </p:spPr>
        <p:txBody>
          <a:bodyPr wrap="square" rtlCol="0">
            <a:spAutoFit/>
          </a:bodyPr>
          <a:lstStyle/>
          <a:p>
            <a:r>
              <a:rPr lang="en-US" b="1" u="sng" dirty="0">
                <a:latin typeface="Times New Roman" panose="02020603050405020304" pitchFamily="18" charset="0"/>
                <a:cs typeface="Times New Roman" panose="02020603050405020304" pitchFamily="18" charset="0"/>
              </a:rPr>
              <a:t>Primary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Stock Ledgers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Registers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Bill book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Day book</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raw data comprised transaction-level sales and inventory logs for a year(April 2023 – March 2024). Initial steps involved consolidating daily records into a master dataset. The data sources can be accessed through the link mentioned below:</a:t>
            </a:r>
            <a:br>
              <a:rPr lang="en-US" dirty="0">
                <a:latin typeface="Times New Roman" panose="02020603050405020304" pitchFamily="18" charset="0"/>
                <a:cs typeface="Times New Roman" panose="02020603050405020304" pitchFamily="18" charset="0"/>
              </a:rPr>
            </a:br>
            <a:r>
              <a:rPr lang="en-US" b="1" u="sng" dirty="0">
                <a:latin typeface="Times New Roman" panose="02020603050405020304" pitchFamily="18" charset="0"/>
                <a:cs typeface="Times New Roman" panose="02020603050405020304" pitchFamily="18" charset="0"/>
                <a:hlinkClick r:id="rId4"/>
              </a:rPr>
              <a:t>Stock Ledger</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5"/>
              </a:rPr>
              <a:t>Competitor Pricing </a:t>
            </a:r>
            <a:r>
              <a:rPr lang="en-US" dirty="0">
                <a:latin typeface="Times New Roman" panose="02020603050405020304" pitchFamily="18" charset="0"/>
                <a:cs typeface="Times New Roman" panose="02020603050405020304" pitchFamily="18" charset="0"/>
              </a:rPr>
              <a:t>data was also collected through direct market intelligence.</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Excel and Python (</a:t>
            </a:r>
            <a:r>
              <a:rPr lang="en-US" u="sng" dirty="0">
                <a:hlinkClick r:id="rId6"/>
              </a:rPr>
              <a:t>Google Colab</a:t>
            </a:r>
            <a:r>
              <a:rPr lang="en-US" dirty="0">
                <a:latin typeface="Times New Roman" panose="02020603050405020304" pitchFamily="18" charset="0"/>
                <a:cs typeface="Times New Roman" panose="02020603050405020304" pitchFamily="18" charset="0"/>
              </a:rPr>
              <a:t>) were used for data cleaning and initial analysis.</a:t>
            </a:r>
          </a:p>
          <a:p>
            <a:endParaRPr lang="en-US" dirty="0"/>
          </a:p>
        </p:txBody>
      </p:sp>
    </p:spTree>
    <p:extLst>
      <p:ext uri="{BB962C8B-B14F-4D97-AF65-F5344CB8AC3E}">
        <p14:creationId xmlns:p14="http://schemas.microsoft.com/office/powerpoint/2010/main" val="308535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F38C22-43F0-9314-7D5F-7F571F079951}"/>
              </a:ext>
            </a:extLst>
          </p:cNvPr>
          <p:cNvSpPr txBox="1"/>
          <p:nvPr/>
        </p:nvSpPr>
        <p:spPr>
          <a:xfrm>
            <a:off x="128337" y="113582"/>
            <a:ext cx="5309936"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 Used:</a:t>
            </a:r>
          </a:p>
        </p:txBody>
      </p:sp>
      <p:sp>
        <p:nvSpPr>
          <p:cNvPr id="4" name="TextBox 3">
            <a:extLst>
              <a:ext uri="{FF2B5EF4-FFF2-40B4-BE49-F238E27FC236}">
                <a16:creationId xmlns:a16="http://schemas.microsoft.com/office/drawing/2014/main" id="{BEF00FAF-0355-CF99-C8C5-551107A11F07}"/>
              </a:ext>
            </a:extLst>
          </p:cNvPr>
          <p:cNvSpPr txBox="1"/>
          <p:nvPr/>
        </p:nvSpPr>
        <p:spPr>
          <a:xfrm>
            <a:off x="0" y="992444"/>
            <a:ext cx="3168316" cy="5355312"/>
          </a:xfrm>
          <a:prstGeom prst="rect">
            <a:avLst/>
          </a:prstGeom>
          <a:solidFill>
            <a:schemeClr val="bg2">
              <a:lumMod val="75000"/>
            </a:schemeClr>
          </a:solidFill>
          <a:scene3d>
            <a:camera prst="orthographicFront"/>
            <a:lightRig rig="threePt" dir="t"/>
          </a:scene3d>
          <a:sp3d>
            <a:bevelT w="165100" prst="coolSlant"/>
          </a:sp3d>
        </p:spPr>
        <p:txBody>
          <a:bodyPr wrap="square" rtlCol="0">
            <a:spAutoFit/>
          </a:bodyPr>
          <a:lstStyle/>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Descriptive Statistics</a:t>
            </a:r>
          </a:p>
          <a:p>
            <a:pPr marL="285750" indent="-285750">
              <a:buFont typeface="Arial" panose="020B0604020202020204" pitchFamily="34" charset="0"/>
              <a:buChar char="•"/>
            </a:pPr>
            <a:r>
              <a:rPr lang="en-US" dirty="0"/>
              <a:t>Mean, median, standard deviation, minimum, maximum for monthly sales, revenue and average unit price by each SKUs were calculated.</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helps prioritize products, identify weaknesses in revenue streams, and design targeted strategies for growth and stabilization.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Bharati Traders(Jaggery Nuts): has a high mean but also high std and months with zero sales, indicating risk and volatility </a:t>
            </a:r>
          </a:p>
        </p:txBody>
      </p:sp>
      <p:sp>
        <p:nvSpPr>
          <p:cNvPr id="7" name="TextBox 6">
            <a:extLst>
              <a:ext uri="{FF2B5EF4-FFF2-40B4-BE49-F238E27FC236}">
                <a16:creationId xmlns:a16="http://schemas.microsoft.com/office/drawing/2014/main" id="{B8C1ACC6-B61D-9750-6A9B-84A67F95DA1A}"/>
              </a:ext>
            </a:extLst>
          </p:cNvPr>
          <p:cNvSpPr txBox="1"/>
          <p:nvPr/>
        </p:nvSpPr>
        <p:spPr>
          <a:xfrm>
            <a:off x="3240831" y="992444"/>
            <a:ext cx="2959334" cy="5355312"/>
          </a:xfrm>
          <a:prstGeom prst="rect">
            <a:avLst/>
          </a:prstGeom>
          <a:solidFill>
            <a:schemeClr val="bg2">
              <a:lumMod val="75000"/>
            </a:schemeClr>
          </a:solidFill>
          <a:scene3d>
            <a:camera prst="orthographicFront"/>
            <a:lightRig rig="threePt" dir="t"/>
          </a:scene3d>
          <a:sp3d>
            <a:bevelT w="165100" prst="coolSlant"/>
          </a:sp3d>
        </p:spPr>
        <p:txBody>
          <a:bodyPr wrap="square" rtlCol="0">
            <a:spAutoFit/>
          </a:bodyPr>
          <a:lstStyle/>
          <a:p>
            <a:pPr marL="342900" indent="-342900">
              <a:buAutoNum type="arabicPeriod" startAt="2"/>
            </a:pPr>
            <a:r>
              <a:rPr lang="en-US" b="1" dirty="0">
                <a:latin typeface="Times New Roman" panose="02020603050405020304" pitchFamily="18" charset="0"/>
                <a:cs typeface="Times New Roman" panose="02020603050405020304" pitchFamily="18" charset="0"/>
              </a:rPr>
              <a:t>Time Series Analysis</a:t>
            </a:r>
          </a:p>
          <a:p>
            <a:pPr marL="342900" indent="-342900">
              <a:buFont typeface="Arial" panose="020B0604020202020204" pitchFamily="34" charset="0"/>
              <a:buChar char="•"/>
            </a:pPr>
            <a:r>
              <a:rPr lang="en-US" dirty="0"/>
              <a:t>Sales, revenue and price data were visualized across time using line and bar charts to identify seasonality and volatility. This approach clarified months of peak versus low demand, supporting targeted interventions.</a:t>
            </a:r>
          </a:p>
          <a:p>
            <a:pPr marL="342900" indent="-342900">
              <a:buFont typeface="Arial" panose="020B0604020202020204" pitchFamily="34" charset="0"/>
              <a:buChar char="•"/>
            </a:pPr>
            <a:r>
              <a:rPr lang="en-US" dirty="0"/>
              <a:t>This guides to focus working capital, shelf space, and promotions on high-impact SKUs directly reducing inventory inefficiency and wasted capital.</a:t>
            </a:r>
          </a:p>
          <a:p>
            <a:endParaRPr lang="en-US" dirty="0"/>
          </a:p>
          <a:p>
            <a:endParaRPr lang="en-US" dirty="0"/>
          </a:p>
        </p:txBody>
      </p:sp>
      <p:sp>
        <p:nvSpPr>
          <p:cNvPr id="3" name="TextBox 2">
            <a:extLst>
              <a:ext uri="{FF2B5EF4-FFF2-40B4-BE49-F238E27FC236}">
                <a16:creationId xmlns:a16="http://schemas.microsoft.com/office/drawing/2014/main" id="{D60C2AFE-9D83-37F2-A210-5FAB62F7B937}"/>
              </a:ext>
            </a:extLst>
          </p:cNvPr>
          <p:cNvSpPr txBox="1"/>
          <p:nvPr/>
        </p:nvSpPr>
        <p:spPr>
          <a:xfrm>
            <a:off x="6288668" y="980090"/>
            <a:ext cx="2831430" cy="5355312"/>
          </a:xfrm>
          <a:prstGeom prst="rect">
            <a:avLst/>
          </a:prstGeom>
          <a:solidFill>
            <a:schemeClr val="bg2">
              <a:lumMod val="75000"/>
            </a:schemeClr>
          </a:solidFill>
          <a:scene3d>
            <a:camera prst="orthographicFront"/>
            <a:lightRig rig="threePt" dir="t"/>
          </a:scene3d>
          <a:sp3d>
            <a:bevelT w="165100" prst="coolSlant"/>
          </a:sp3d>
        </p:spPr>
        <p:txBody>
          <a:bodyPr wrap="square" rtlCol="0">
            <a:spAutoFit/>
          </a:bodyPr>
          <a:lstStyle/>
          <a:p>
            <a:r>
              <a:rPr lang="en-US" b="1" dirty="0">
                <a:latin typeface="Times New Roman" panose="02020603050405020304" pitchFamily="18" charset="0"/>
                <a:cs typeface="Times New Roman" panose="02020603050405020304" pitchFamily="18" charset="0"/>
              </a:rPr>
              <a:t>3.  ABC Categorization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ABC Analysis is an inventory management technique.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Categorizes based on the volume of sales or revenue generated over the year.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Based on this each SKUs are categorized in to 3 categories A,B and C.</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Category: typically, top 70–80% of value.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 Category: next 15–20%.</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 Category: bottom 5–10%.</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A797D08A-75D1-CBFA-1348-AB076F1B4C4D}"/>
              </a:ext>
            </a:extLst>
          </p:cNvPr>
          <p:cNvSpPr txBox="1"/>
          <p:nvPr/>
        </p:nvSpPr>
        <p:spPr>
          <a:xfrm>
            <a:off x="9208601" y="980090"/>
            <a:ext cx="2902756" cy="5355312"/>
          </a:xfrm>
          <a:prstGeom prst="rect">
            <a:avLst/>
          </a:prstGeom>
          <a:solidFill>
            <a:schemeClr val="bg2">
              <a:lumMod val="75000"/>
            </a:schemeClr>
          </a:solidFill>
          <a:scene3d>
            <a:camera prst="orthographicFront"/>
            <a:lightRig rig="threePt" dir="t"/>
          </a:scene3d>
          <a:sp3d>
            <a:bevelT w="165100" prst="coolSlant"/>
          </a:sp3d>
        </p:spPr>
        <p:txBody>
          <a:bodyPr wrap="square" rtlCol="0">
            <a:spAutoFit/>
          </a:bodyPr>
          <a:lstStyle/>
          <a:p>
            <a:r>
              <a:rPr lang="en-US" b="1" dirty="0">
                <a:latin typeface="Times New Roman" panose="02020603050405020304" pitchFamily="18" charset="0"/>
                <a:cs typeface="Times New Roman" panose="02020603050405020304" pitchFamily="18" charset="0"/>
              </a:rPr>
              <a:t>4. Competitor Pricing    Analysis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each of the main products (SKUs), competitor prices were collected monthly, via direct market intelligence.</a:t>
            </a:r>
          </a:p>
          <a:p>
            <a:pPr marL="285750" indent="-285750">
              <a:buFont typeface="Arial" panose="020B0604020202020204" pitchFamily="34" charset="0"/>
              <a:buChar char="•"/>
            </a:pPr>
            <a:r>
              <a:rPr lang="en-US" dirty="0"/>
              <a:t>These prices were tabulated alongside the company's average unit selling price.</a:t>
            </a:r>
          </a:p>
          <a:p>
            <a:pPr marL="342900" indent="-342900">
              <a:buAutoNum type="arabicPeriod" startAt="5"/>
            </a:pPr>
            <a:r>
              <a:rPr lang="en-US" b="1" dirty="0">
                <a:latin typeface="Times New Roman" panose="02020603050405020304" pitchFamily="18" charset="0"/>
                <a:cs typeface="Times New Roman" panose="02020603050405020304" pitchFamily="18" charset="0"/>
              </a:rPr>
              <a:t>Stock Return Analysis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Stock returns indicate the quantity of jaggery products that were brought back from customers, often due to defects or quality issues.</a:t>
            </a:r>
          </a:p>
          <a:p>
            <a:endParaRPr lang="en-US" dirty="0"/>
          </a:p>
        </p:txBody>
      </p:sp>
    </p:spTree>
    <p:extLst>
      <p:ext uri="{BB962C8B-B14F-4D97-AF65-F5344CB8AC3E}">
        <p14:creationId xmlns:p14="http://schemas.microsoft.com/office/powerpoint/2010/main" val="3643952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DA6EB179-1168-E962-5638-81243AE02ACE}"/>
              </a:ext>
            </a:extLst>
          </p:cNvPr>
          <p:cNvGraphicFramePr/>
          <p:nvPr>
            <p:extLst>
              <p:ext uri="{D42A27DB-BD31-4B8C-83A1-F6EECF244321}">
                <p14:modId xmlns:p14="http://schemas.microsoft.com/office/powerpoint/2010/main" val="1677335787"/>
              </p:ext>
            </p:extLst>
          </p:nvPr>
        </p:nvGraphicFramePr>
        <p:xfrm>
          <a:off x="56147" y="710839"/>
          <a:ext cx="5863390" cy="32234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FF9AD2DA-BC11-66EF-A807-986BCCD3A337}"/>
              </a:ext>
            </a:extLst>
          </p:cNvPr>
          <p:cNvGraphicFramePr/>
          <p:nvPr>
            <p:extLst>
              <p:ext uri="{D42A27DB-BD31-4B8C-83A1-F6EECF244321}">
                <p14:modId xmlns:p14="http://schemas.microsoft.com/office/powerpoint/2010/main" val="3411293464"/>
              </p:ext>
            </p:extLst>
          </p:nvPr>
        </p:nvGraphicFramePr>
        <p:xfrm>
          <a:off x="6272463" y="710839"/>
          <a:ext cx="5807243" cy="322348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96BC6866-E44B-CA59-989B-8291D3FD5AEA}"/>
              </a:ext>
            </a:extLst>
          </p:cNvPr>
          <p:cNvSpPr txBox="1"/>
          <p:nvPr/>
        </p:nvSpPr>
        <p:spPr>
          <a:xfrm>
            <a:off x="417095" y="4060391"/>
            <a:ext cx="5502442" cy="2308324"/>
          </a:xfrm>
          <a:prstGeom prst="rect">
            <a:avLst/>
          </a:prstGeom>
          <a:solidFill>
            <a:schemeClr val="accent4">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category SKUs(Sri Vengadesh – Jaggery balls, Bharati – Jaggery nuts) contribute over 50% of total revenue and sales.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 category SKUs(SJB – jaggery nuts, Sri Dharani – Jaggery balls) adds significant but moderate value.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require the most stringent inventory control, price monitoring, and promotion focus.</a:t>
            </a:r>
            <a:b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EE84E0C-7677-E554-5413-8802CC9BCFF6}"/>
              </a:ext>
            </a:extLst>
          </p:cNvPr>
          <p:cNvSpPr txBox="1"/>
          <p:nvPr/>
        </p:nvSpPr>
        <p:spPr>
          <a:xfrm>
            <a:off x="6272463" y="4060391"/>
            <a:ext cx="5807243" cy="2308324"/>
          </a:xfrm>
          <a:prstGeom prst="rect">
            <a:avLst/>
          </a:prstGeom>
          <a:solidFill>
            <a:schemeClr val="accent4">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Sri Vengadesh Perumal – Jaggery balls contributes highest in terms of revenue as well as sales, contributing ₹55,06,300 to the revenue and 3987 in sales volume.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 category SKU(Reshma – Jaggery nuts) has minimal impact, represents slow movers.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Reshma traders – Jaggery nuts has minimal impact in revenue and sales, potential candidate for inventory reduction or clearance.</a:t>
            </a:r>
          </a:p>
        </p:txBody>
      </p:sp>
      <p:sp>
        <p:nvSpPr>
          <p:cNvPr id="6" name="TextBox 5">
            <a:extLst>
              <a:ext uri="{FF2B5EF4-FFF2-40B4-BE49-F238E27FC236}">
                <a16:creationId xmlns:a16="http://schemas.microsoft.com/office/drawing/2014/main" id="{9FA5C69F-82C4-EEBD-64FC-C495FCA9E1A8}"/>
              </a:ext>
            </a:extLst>
          </p:cNvPr>
          <p:cNvSpPr txBox="1"/>
          <p:nvPr/>
        </p:nvSpPr>
        <p:spPr>
          <a:xfrm>
            <a:off x="112294" y="0"/>
            <a:ext cx="6577263"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Findings – ABC Categorization</a:t>
            </a:r>
          </a:p>
        </p:txBody>
      </p:sp>
    </p:spTree>
    <p:extLst>
      <p:ext uri="{BB962C8B-B14F-4D97-AF65-F5344CB8AC3E}">
        <p14:creationId xmlns:p14="http://schemas.microsoft.com/office/powerpoint/2010/main" val="1775940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AEFCCE-D2A0-4574-496F-FB44A0F30F59}"/>
              </a:ext>
            </a:extLst>
          </p:cNvPr>
          <p:cNvSpPr txBox="1"/>
          <p:nvPr/>
        </p:nvSpPr>
        <p:spPr>
          <a:xfrm>
            <a:off x="39904" y="0"/>
            <a:ext cx="6577263"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Findings – Sales &amp; Price Trends</a:t>
            </a:r>
          </a:p>
        </p:txBody>
      </p:sp>
      <p:graphicFrame>
        <p:nvGraphicFramePr>
          <p:cNvPr id="5" name="Chart 4">
            <a:extLst>
              <a:ext uri="{FF2B5EF4-FFF2-40B4-BE49-F238E27FC236}">
                <a16:creationId xmlns:a16="http://schemas.microsoft.com/office/drawing/2014/main" id="{7E2AC264-A422-1E57-4AD7-77E6DDD083FC}"/>
              </a:ext>
            </a:extLst>
          </p:cNvPr>
          <p:cNvGraphicFramePr/>
          <p:nvPr>
            <p:extLst>
              <p:ext uri="{D42A27DB-BD31-4B8C-83A1-F6EECF244321}">
                <p14:modId xmlns:p14="http://schemas.microsoft.com/office/powerpoint/2010/main" val="2401746105"/>
              </p:ext>
            </p:extLst>
          </p:nvPr>
        </p:nvGraphicFramePr>
        <p:xfrm>
          <a:off x="39904" y="649134"/>
          <a:ext cx="6897904" cy="32084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9C0060F7-E2D0-25C7-17DD-FEB41CE9C0AE}"/>
              </a:ext>
            </a:extLst>
          </p:cNvPr>
          <p:cNvGraphicFramePr/>
          <p:nvPr>
            <p:extLst>
              <p:ext uri="{D42A27DB-BD31-4B8C-83A1-F6EECF244321}">
                <p14:modId xmlns:p14="http://schemas.microsoft.com/office/powerpoint/2010/main" val="2395460696"/>
              </p:ext>
            </p:extLst>
          </p:nvPr>
        </p:nvGraphicFramePr>
        <p:xfrm>
          <a:off x="39904" y="3921914"/>
          <a:ext cx="6858000" cy="247086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24DA3F89-F12D-B1D4-1ADB-87BC2E3E1988}"/>
              </a:ext>
            </a:extLst>
          </p:cNvPr>
          <p:cNvSpPr txBox="1"/>
          <p:nvPr/>
        </p:nvSpPr>
        <p:spPr>
          <a:xfrm>
            <a:off x="7034463" y="490728"/>
            <a:ext cx="5117633" cy="2585323"/>
          </a:xfrm>
          <a:prstGeom prst="rect">
            <a:avLst/>
          </a:prstGeom>
          <a:solidFill>
            <a:schemeClr val="bg2">
              <a:lumMod val="75000"/>
            </a:schemeClr>
          </a:solidFill>
          <a:scene3d>
            <a:camera prst="orthographicFront"/>
            <a:lightRig rig="threePt" dir="t"/>
          </a:scene3d>
          <a:sp3d>
            <a:bevelT prst="convex"/>
          </a:sp3d>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volumes for the major SKUs show clear seasonality and volatility: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 Bharati Traders – Jaggery Nuts experienced a dramatic sales spike in July but then sales declined sharply, reaching zero in February and March, even when there was available stock.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Sri Jaya Bharati Traders and others also show irregular sales, with months of high peaks and others with little or no activity. </a:t>
            </a:r>
          </a:p>
        </p:txBody>
      </p:sp>
      <p:sp>
        <p:nvSpPr>
          <p:cNvPr id="2" name="TextBox 1">
            <a:extLst>
              <a:ext uri="{FF2B5EF4-FFF2-40B4-BE49-F238E27FC236}">
                <a16:creationId xmlns:a16="http://schemas.microsoft.com/office/drawing/2014/main" id="{73D86081-E974-5F54-0EC7-7C06719BFB1D}"/>
              </a:ext>
            </a:extLst>
          </p:cNvPr>
          <p:cNvSpPr txBox="1"/>
          <p:nvPr/>
        </p:nvSpPr>
        <p:spPr>
          <a:xfrm>
            <a:off x="7034462" y="3765337"/>
            <a:ext cx="5117633" cy="2585323"/>
          </a:xfrm>
          <a:prstGeom prst="rect">
            <a:avLst/>
          </a:prstGeom>
          <a:solidFill>
            <a:schemeClr val="bg2">
              <a:lumMod val="75000"/>
            </a:schemeClr>
          </a:solidFill>
          <a:scene3d>
            <a:camera prst="orthographicFront"/>
            <a:lightRig rig="threePt" dir="t"/>
          </a:scene3d>
          <a:sp3d>
            <a:bevelT prst="convex"/>
          </a:sp3d>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number of “no sales days” is a critical operational issue for all products, particularly some SKUs that remain unsold for large parts of the year.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Focusing on understanding the seasonality patterns and minimizing no-sales days is essential for stabilizing revenue and improving stock turnover.</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1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739B70-6305-90B3-EF45-EA60E86B1974}"/>
              </a:ext>
            </a:extLst>
          </p:cNvPr>
          <p:cNvSpPr txBox="1"/>
          <p:nvPr/>
        </p:nvSpPr>
        <p:spPr>
          <a:xfrm>
            <a:off x="124326" y="0"/>
            <a:ext cx="10467474"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Findings – Competitive Pricing</a:t>
            </a:r>
          </a:p>
        </p:txBody>
      </p:sp>
      <p:graphicFrame>
        <p:nvGraphicFramePr>
          <p:cNvPr id="5" name="Chart 4">
            <a:extLst>
              <a:ext uri="{FF2B5EF4-FFF2-40B4-BE49-F238E27FC236}">
                <a16:creationId xmlns:a16="http://schemas.microsoft.com/office/drawing/2014/main" id="{60A81893-CF0E-4533-8C62-44FF25BF1A78}"/>
              </a:ext>
            </a:extLst>
          </p:cNvPr>
          <p:cNvGraphicFramePr/>
          <p:nvPr>
            <p:extLst>
              <p:ext uri="{D42A27DB-BD31-4B8C-83A1-F6EECF244321}">
                <p14:modId xmlns:p14="http://schemas.microsoft.com/office/powerpoint/2010/main" val="4204843731"/>
              </p:ext>
            </p:extLst>
          </p:nvPr>
        </p:nvGraphicFramePr>
        <p:xfrm>
          <a:off x="0" y="1223562"/>
          <a:ext cx="6609347" cy="29477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F68BC053-0D2D-570A-F479-03CD28807E01}"/>
              </a:ext>
            </a:extLst>
          </p:cNvPr>
          <p:cNvGraphicFramePr/>
          <p:nvPr>
            <p:extLst>
              <p:ext uri="{D42A27DB-BD31-4B8C-83A1-F6EECF244321}">
                <p14:modId xmlns:p14="http://schemas.microsoft.com/office/powerpoint/2010/main" val="1882953572"/>
              </p:ext>
            </p:extLst>
          </p:nvPr>
        </p:nvGraphicFramePr>
        <p:xfrm>
          <a:off x="6833938" y="1223562"/>
          <a:ext cx="4884820" cy="294328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8EAF4329-9219-00E6-41BE-2146E443B802}"/>
              </a:ext>
            </a:extLst>
          </p:cNvPr>
          <p:cNvSpPr txBox="1"/>
          <p:nvPr/>
        </p:nvSpPr>
        <p:spPr>
          <a:xfrm>
            <a:off x="124326" y="679813"/>
            <a:ext cx="643288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Based on </a:t>
            </a:r>
            <a:r>
              <a:rPr lang="en-US" dirty="0">
                <a:latin typeface="Times New Roman" panose="02020603050405020304" pitchFamily="18" charset="0"/>
                <a:cs typeface="Times New Roman" panose="02020603050405020304" pitchFamily="18" charset="0"/>
                <a:hlinkClick r:id="rId4"/>
              </a:rPr>
              <a:t>Competitor Pricing </a:t>
            </a:r>
            <a:r>
              <a:rPr lang="en-US" dirty="0">
                <a:latin typeface="Times New Roman" panose="02020603050405020304" pitchFamily="18" charset="0"/>
                <a:cs typeface="Times New Roman" panose="02020603050405020304" pitchFamily="18" charset="0"/>
              </a:rPr>
              <a:t>: Example BHARATI – Jaggery nuts</a:t>
            </a:r>
          </a:p>
        </p:txBody>
      </p:sp>
      <p:sp>
        <p:nvSpPr>
          <p:cNvPr id="9" name="TextBox 8">
            <a:extLst>
              <a:ext uri="{FF2B5EF4-FFF2-40B4-BE49-F238E27FC236}">
                <a16:creationId xmlns:a16="http://schemas.microsoft.com/office/drawing/2014/main" id="{D200C4F1-67E0-0EEE-6802-BC00D37A9D22}"/>
              </a:ext>
            </a:extLst>
          </p:cNvPr>
          <p:cNvSpPr txBox="1"/>
          <p:nvPr/>
        </p:nvSpPr>
        <p:spPr>
          <a:xfrm>
            <a:off x="124326" y="4266375"/>
            <a:ext cx="11943347" cy="2031325"/>
          </a:xfrm>
          <a:prstGeom prst="rect">
            <a:avLst/>
          </a:prstGeom>
          <a:solidFill>
            <a:schemeClr val="accent4">
              <a:lumMod val="60000"/>
              <a:lumOff val="40000"/>
            </a:schemeClr>
          </a:solidFill>
          <a:effectLst>
            <a:innerShdw blurRad="114300">
              <a:prstClr val="black"/>
            </a:innerShdw>
          </a:effectLst>
          <a:scene3d>
            <a:camera prst="orthographicFront"/>
            <a:lightRig rig="threePt" dir="t"/>
          </a:scene3d>
          <a:sp3d>
            <a:bevelT w="165100" prst="coolSlant"/>
          </a:sp3d>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show “Price Comparison” between client vs competitor for Bharati – jaggery nuts.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Similarly, the comparison is also available for SJB – Jaggery nuts.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the client prices align with or undercuts the competitor, sales volumes are higher.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figures best illustrate the direct relationship between pricing position and sales volume, making the price sensitivity clear.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Even small price differences (2-3%) cause sharp sales drop, confirming high price sensitivity in the market.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Tight alignment with competitor pricing is critical for defending and growing sales, hence customer retention.</a:t>
            </a:r>
          </a:p>
        </p:txBody>
      </p:sp>
    </p:spTree>
    <p:extLst>
      <p:ext uri="{BB962C8B-B14F-4D97-AF65-F5344CB8AC3E}">
        <p14:creationId xmlns:p14="http://schemas.microsoft.com/office/powerpoint/2010/main" val="3229925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1A7EBC-5C9B-7801-1A03-E4A512314FB7}"/>
              </a:ext>
            </a:extLst>
          </p:cNvPr>
          <p:cNvSpPr txBox="1"/>
          <p:nvPr/>
        </p:nvSpPr>
        <p:spPr>
          <a:xfrm>
            <a:off x="72190" y="-72752"/>
            <a:ext cx="3160294" cy="584775"/>
          </a:xfrm>
          <a:prstGeom prst="rect">
            <a:avLst/>
          </a:prstGeom>
          <a:noFill/>
        </p:spPr>
        <p:txBody>
          <a:bodyPr wrap="square">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Interpretations</a:t>
            </a:r>
          </a:p>
        </p:txBody>
      </p:sp>
      <p:sp>
        <p:nvSpPr>
          <p:cNvPr id="6" name="Speech Bubble: Oval 5">
            <a:extLst>
              <a:ext uri="{FF2B5EF4-FFF2-40B4-BE49-F238E27FC236}">
                <a16:creationId xmlns:a16="http://schemas.microsoft.com/office/drawing/2014/main" id="{7C1901D9-4044-210A-1F71-0E76FE0507FF}"/>
              </a:ext>
            </a:extLst>
          </p:cNvPr>
          <p:cNvSpPr/>
          <p:nvPr/>
        </p:nvSpPr>
        <p:spPr>
          <a:xfrm>
            <a:off x="0" y="512022"/>
            <a:ext cx="5454316" cy="3129535"/>
          </a:xfrm>
          <a:prstGeom prst="wedgeEllipseCallout">
            <a:avLst>
              <a:gd name="adj1" fmla="val -38344"/>
              <a:gd name="adj2" fmla="val 31993"/>
            </a:avLst>
          </a:prstGeom>
          <a:solidFill>
            <a:srgbClr val="CD6415"/>
          </a:solidFill>
          <a:effectLst>
            <a:innerShdw blurRad="63500" dist="50800" dir="162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mj-lt"/>
              <a:buAutoNum type="arabicPeriod"/>
            </a:pPr>
            <a:r>
              <a:rPr lang="en-US" b="1" dirty="0">
                <a:latin typeface="Times New Roman" panose="02020603050405020304" pitchFamily="18" charset="0"/>
                <a:cs typeface="Times New Roman" panose="02020603050405020304" pitchFamily="18" charset="0"/>
              </a:rPr>
              <a:t>Revenue &amp; Sales Instability </a:t>
            </a:r>
          </a:p>
          <a:p>
            <a:r>
              <a:rPr lang="en-US" dirty="0">
                <a:latin typeface="Times New Roman" panose="02020603050405020304" pitchFamily="18" charset="0"/>
                <a:cs typeface="Times New Roman" panose="02020603050405020304" pitchFamily="18" charset="0"/>
              </a:rPr>
              <a:t>• Key SKUs like Bharati – Jaggery nuts and SJB – Jaggery nuts experience significant volatility, with sales spiking during festive seasons, often dropping to zero in some months.</a:t>
            </a:r>
          </a:p>
          <a:p>
            <a:r>
              <a:rPr lang="en-US" dirty="0">
                <a:latin typeface="Times New Roman" panose="02020603050405020304" pitchFamily="18" charset="0"/>
                <a:cs typeface="Times New Roman" panose="02020603050405020304" pitchFamily="18" charset="0"/>
              </a:rPr>
              <a:t> • This reflects high exposure to seasonality, pricing and competition.</a:t>
            </a:r>
          </a:p>
        </p:txBody>
      </p:sp>
      <p:sp>
        <p:nvSpPr>
          <p:cNvPr id="7" name="Speech Bubble: Oval 6">
            <a:extLst>
              <a:ext uri="{FF2B5EF4-FFF2-40B4-BE49-F238E27FC236}">
                <a16:creationId xmlns:a16="http://schemas.microsoft.com/office/drawing/2014/main" id="{909C77CC-C0BD-2A48-22CB-8189A0E7E1D6}"/>
              </a:ext>
            </a:extLst>
          </p:cNvPr>
          <p:cNvSpPr/>
          <p:nvPr/>
        </p:nvSpPr>
        <p:spPr>
          <a:xfrm>
            <a:off x="5670885" y="512023"/>
            <a:ext cx="6448925" cy="3129534"/>
          </a:xfrm>
          <a:prstGeom prst="wedgeEllipseCallout">
            <a:avLst>
              <a:gd name="adj1" fmla="val 32522"/>
              <a:gd name="adj2" fmla="val 36389"/>
            </a:avLst>
          </a:prstGeom>
          <a:solidFill>
            <a:srgbClr val="CD6415"/>
          </a:solidFill>
          <a:effectLst>
            <a:innerShdw blurRad="63500" dist="50800" dir="162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2. Inventory Challenges </a:t>
            </a:r>
          </a:p>
          <a:p>
            <a:pPr marL="285750" indent="-285750" algn="ct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Frequent “no sales days” and long periods of inactivity point to both stock outs and overstocking. </a:t>
            </a:r>
          </a:p>
          <a:p>
            <a:pPr marL="285750" indent="-285750" algn="ct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Efficient inventory planning is lacking, causing missed opportunities and cash flow. </a:t>
            </a:r>
          </a:p>
          <a:p>
            <a:pPr marL="285750" indent="-285750" algn="ct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SKUs like Sri Dharani - Jaggery balls and Reshma - Jaggery nuts are overstocked with higher ratio of no sales to sales days.</a:t>
            </a:r>
          </a:p>
        </p:txBody>
      </p:sp>
      <p:sp>
        <p:nvSpPr>
          <p:cNvPr id="8" name="Speech Bubble: Oval 7">
            <a:extLst>
              <a:ext uri="{FF2B5EF4-FFF2-40B4-BE49-F238E27FC236}">
                <a16:creationId xmlns:a16="http://schemas.microsoft.com/office/drawing/2014/main" id="{2049042C-B47B-7069-560A-19C93F224BB3}"/>
              </a:ext>
            </a:extLst>
          </p:cNvPr>
          <p:cNvSpPr/>
          <p:nvPr/>
        </p:nvSpPr>
        <p:spPr>
          <a:xfrm>
            <a:off x="0" y="3717758"/>
            <a:ext cx="6184231" cy="2656292"/>
          </a:xfrm>
          <a:prstGeom prst="wedgeEllipseCallout">
            <a:avLst>
              <a:gd name="adj1" fmla="val -33848"/>
              <a:gd name="adj2" fmla="val 35907"/>
            </a:avLst>
          </a:prstGeom>
          <a:solidFill>
            <a:srgbClr val="CD6415"/>
          </a:solidFill>
          <a:effectLst>
            <a:innerShdw blurRad="63500" dist="50800" dir="162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3. High Price Sensitivity </a:t>
            </a:r>
          </a:p>
          <a:p>
            <a:pPr algn="just"/>
            <a:r>
              <a:rPr lang="en-US" dirty="0">
                <a:latin typeface="Times New Roman" panose="02020603050405020304" pitchFamily="18" charset="0"/>
                <a:cs typeface="Times New Roman" panose="02020603050405020304" pitchFamily="18" charset="0"/>
              </a:rPr>
              <a:t>•Sales volumes are highly responsive to even small changes in pricing compared to competitors(SKUs Bharati and SJB). </a:t>
            </a:r>
          </a:p>
          <a:p>
            <a:pPr algn="just"/>
            <a:r>
              <a:rPr lang="en-US" dirty="0">
                <a:latin typeface="Times New Roman" panose="02020603050405020304" pitchFamily="18" charset="0"/>
                <a:cs typeface="Times New Roman" panose="02020603050405020304" pitchFamily="18" charset="0"/>
              </a:rPr>
              <a:t>•Months were prices exceeded competitors led to sales drop, highlighting the importance of real time pricing strategy.</a:t>
            </a:r>
          </a:p>
        </p:txBody>
      </p:sp>
      <p:sp>
        <p:nvSpPr>
          <p:cNvPr id="9" name="Speech Bubble: Oval 8">
            <a:extLst>
              <a:ext uri="{FF2B5EF4-FFF2-40B4-BE49-F238E27FC236}">
                <a16:creationId xmlns:a16="http://schemas.microsoft.com/office/drawing/2014/main" id="{B1C18334-81B4-71B6-B608-8A31872D54F9}"/>
              </a:ext>
            </a:extLst>
          </p:cNvPr>
          <p:cNvSpPr/>
          <p:nvPr/>
        </p:nvSpPr>
        <p:spPr>
          <a:xfrm>
            <a:off x="6296525" y="3717758"/>
            <a:ext cx="5542547" cy="2600144"/>
          </a:xfrm>
          <a:prstGeom prst="wedgeEllipseCallout">
            <a:avLst>
              <a:gd name="adj1" fmla="val 33433"/>
              <a:gd name="adj2" fmla="val 36691"/>
            </a:avLst>
          </a:prstGeom>
          <a:solidFill>
            <a:srgbClr val="CD6415"/>
          </a:solidFill>
          <a:effectLst>
            <a:innerShdw blurRad="63500" dist="50800" dir="162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4. Product Quality Concerns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Elevated and volatile product return rates(SKU – Reshma - Jaggery nuts) indicate inconsistent quality, possibly from supplier, which negatively impacts customer trust and revenue. </a:t>
            </a:r>
          </a:p>
        </p:txBody>
      </p:sp>
    </p:spTree>
    <p:extLst>
      <p:ext uri="{BB962C8B-B14F-4D97-AF65-F5344CB8AC3E}">
        <p14:creationId xmlns:p14="http://schemas.microsoft.com/office/powerpoint/2010/main" val="1076392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ech Bubble: Rectangle 1">
            <a:extLst>
              <a:ext uri="{FF2B5EF4-FFF2-40B4-BE49-F238E27FC236}">
                <a16:creationId xmlns:a16="http://schemas.microsoft.com/office/drawing/2014/main" id="{D6DF5029-8E09-97B4-DB0A-007AE168B68A}"/>
              </a:ext>
            </a:extLst>
          </p:cNvPr>
          <p:cNvSpPr/>
          <p:nvPr/>
        </p:nvSpPr>
        <p:spPr>
          <a:xfrm>
            <a:off x="184484" y="866275"/>
            <a:ext cx="4981074" cy="1620252"/>
          </a:xfrm>
          <a:prstGeom prst="wedgeRectCallout">
            <a:avLst>
              <a:gd name="adj1" fmla="val -50219"/>
              <a:gd name="adj2" fmla="val 80682"/>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Implement Dynamic Pricing: </a:t>
            </a:r>
          </a:p>
          <a:p>
            <a:r>
              <a:rPr lang="en-US" dirty="0">
                <a:latin typeface="Times New Roman" panose="02020603050405020304" pitchFamily="18" charset="0"/>
                <a:cs typeface="Times New Roman" panose="02020603050405020304" pitchFamily="18" charset="0"/>
              </a:rPr>
              <a:t>• Leverage competitor pricing tools to adjust prices keeping “A” category products within a 1-2% range below competitors to maximize sales and reduce churn.</a:t>
            </a:r>
          </a:p>
        </p:txBody>
      </p:sp>
      <p:sp>
        <p:nvSpPr>
          <p:cNvPr id="3" name="TextBox 2">
            <a:extLst>
              <a:ext uri="{FF2B5EF4-FFF2-40B4-BE49-F238E27FC236}">
                <a16:creationId xmlns:a16="http://schemas.microsoft.com/office/drawing/2014/main" id="{9724D711-A34C-57BD-8ECB-5F703D051533}"/>
              </a:ext>
            </a:extLst>
          </p:cNvPr>
          <p:cNvSpPr txBox="1"/>
          <p:nvPr/>
        </p:nvSpPr>
        <p:spPr>
          <a:xfrm>
            <a:off x="39905" y="0"/>
            <a:ext cx="3529464" cy="584775"/>
          </a:xfrm>
          <a:prstGeom prst="rect">
            <a:avLst/>
          </a:prstGeom>
          <a:noFill/>
        </p:spPr>
        <p:txBody>
          <a:bodyPr wrap="square" rtlCol="0">
            <a:sp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Recommendations</a:t>
            </a:r>
          </a:p>
        </p:txBody>
      </p:sp>
      <p:sp>
        <p:nvSpPr>
          <p:cNvPr id="5" name="Speech Bubble: Rectangle 4">
            <a:extLst>
              <a:ext uri="{FF2B5EF4-FFF2-40B4-BE49-F238E27FC236}">
                <a16:creationId xmlns:a16="http://schemas.microsoft.com/office/drawing/2014/main" id="{F4FC076B-06C5-0F76-D5FB-E5FAE9D1FCB5}"/>
              </a:ext>
            </a:extLst>
          </p:cNvPr>
          <p:cNvSpPr/>
          <p:nvPr/>
        </p:nvSpPr>
        <p:spPr>
          <a:xfrm>
            <a:off x="5638800" y="866275"/>
            <a:ext cx="6368716" cy="2430378"/>
          </a:xfrm>
          <a:prstGeom prst="wedgeRectCallout">
            <a:avLst>
              <a:gd name="adj1" fmla="val 51529"/>
              <a:gd name="adj2" fmla="val 81720"/>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Adopt Data-Driven Demand Forecasting: </a:t>
            </a:r>
          </a:p>
          <a:p>
            <a:r>
              <a:rPr lang="en-US" dirty="0">
                <a:latin typeface="Times New Roman" panose="02020603050405020304" pitchFamily="18" charset="0"/>
                <a:cs typeface="Times New Roman" panose="02020603050405020304" pitchFamily="18" charset="0"/>
              </a:rPr>
              <a:t>• Use past sales data, seasonality, and event mapping to set monthly or weekly inventory targets for each SKU. • Automate replenishment reminders and set minimum stock thresholds for “A” SKUs (Sri Vengadesh – jaggery balls and Bharati – jaggery nuts). • Achieve less than 10% stock-out days and under 15% overstock days for A and B products within the next sales year</a:t>
            </a:r>
          </a:p>
        </p:txBody>
      </p:sp>
      <p:sp>
        <p:nvSpPr>
          <p:cNvPr id="6" name="Speech Bubble: Rectangle 5">
            <a:extLst>
              <a:ext uri="{FF2B5EF4-FFF2-40B4-BE49-F238E27FC236}">
                <a16:creationId xmlns:a16="http://schemas.microsoft.com/office/drawing/2014/main" id="{C9774F5D-338A-436F-A61F-2603147A37C5}"/>
              </a:ext>
            </a:extLst>
          </p:cNvPr>
          <p:cNvSpPr/>
          <p:nvPr/>
        </p:nvSpPr>
        <p:spPr>
          <a:xfrm>
            <a:off x="184483" y="3412958"/>
            <a:ext cx="5398169" cy="2430378"/>
          </a:xfrm>
          <a:prstGeom prst="wedgeRectCallout">
            <a:avLst>
              <a:gd name="adj1" fmla="val -46032"/>
              <a:gd name="adj2" fmla="val 68141"/>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      Focus on High-Impact SKUs (ABC Analysis) :</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Consolidate and Prioritize A and B Products: Focus marketing, inventory, and pricing efforts on “A” and “B” SKUs, reducing procurement frequency and working capital tied up in “C” SKUs. </a:t>
            </a:r>
          </a:p>
          <a:p>
            <a:r>
              <a:rPr lang="en-US" dirty="0">
                <a:latin typeface="Times New Roman" panose="02020603050405020304" pitchFamily="18" charset="0"/>
                <a:cs typeface="Times New Roman" panose="02020603050405020304" pitchFamily="18" charset="0"/>
              </a:rPr>
              <a:t>• Maintain 90% stock availability of “A” products and reduce procurement of “C” products by 15-20% over one year.</a:t>
            </a:r>
          </a:p>
        </p:txBody>
      </p:sp>
      <p:sp>
        <p:nvSpPr>
          <p:cNvPr id="7" name="Speech Bubble: Rectangle 6">
            <a:extLst>
              <a:ext uri="{FF2B5EF4-FFF2-40B4-BE49-F238E27FC236}">
                <a16:creationId xmlns:a16="http://schemas.microsoft.com/office/drawing/2014/main" id="{B644C592-ED1D-EED4-B388-BFCB130C6EE0}"/>
              </a:ext>
            </a:extLst>
          </p:cNvPr>
          <p:cNvSpPr/>
          <p:nvPr/>
        </p:nvSpPr>
        <p:spPr>
          <a:xfrm>
            <a:off x="6609350" y="4026568"/>
            <a:ext cx="4981074" cy="1620252"/>
          </a:xfrm>
          <a:prstGeom prst="wedgeRectCallout">
            <a:avLst>
              <a:gd name="adj1" fmla="val 51713"/>
              <a:gd name="adj2" fmla="val 85633"/>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Strengthen Supplier Quality: </a:t>
            </a:r>
          </a:p>
          <a:p>
            <a:r>
              <a:rPr lang="en-US" dirty="0">
                <a:latin typeface="Times New Roman" panose="02020603050405020304" pitchFamily="18" charset="0"/>
                <a:cs typeface="Times New Roman" panose="02020603050405020304" pitchFamily="18" charset="0"/>
              </a:rPr>
              <a:t>• Introduce batch-wise quality checks, especially for high product return SKUs (“C” Category: Reshma – jaggery Nuts).</a:t>
            </a:r>
          </a:p>
        </p:txBody>
      </p:sp>
    </p:spTree>
    <p:extLst>
      <p:ext uri="{BB962C8B-B14F-4D97-AF65-F5344CB8AC3E}">
        <p14:creationId xmlns:p14="http://schemas.microsoft.com/office/powerpoint/2010/main" val="3743012892"/>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www.w3.org/XML/1998/namespace"/>
    <ds:schemaRef ds:uri="http://schemas.microsoft.com/office/2006/documentManagement/types"/>
    <ds:schemaRef ds:uri="http://purl.org/dc/elements/1.1/"/>
    <ds:schemaRef ds:uri="http://schemas.openxmlformats.org/package/2006/metadata/core-properties"/>
    <ds:schemaRef ds:uri="71af3243-3dd4-4a8d-8c0d-dd76da1f02a5"/>
    <ds:schemaRef ds:uri="http://purl.org/dc/dcmitype/"/>
    <ds:schemaRef ds:uri="230e9df3-be65-4c73-a93b-d1236ebd677e"/>
    <ds:schemaRef ds:uri="http://schemas.microsoft.com/sharepoint/v3"/>
    <ds:schemaRef ds:uri="http://schemas.microsoft.com/office/2006/metadata/properties"/>
    <ds:schemaRef ds:uri="http://schemas.microsoft.com/office/infopath/2007/PartnerControls"/>
    <ds:schemaRef ds:uri="16c05727-aa75-4e4a-9b5f-8a80a1165891"/>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353</TotalTime>
  <Words>1498</Words>
  <Application>Microsoft Office PowerPoint</Application>
  <PresentationFormat>Widescreen</PresentationFormat>
  <Paragraphs>111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Bookman Old Style</vt:lpstr>
      <vt:lpstr>Calibri</vt:lpstr>
      <vt:lpstr>Franklin Gothic Book</vt:lpstr>
      <vt:lpstr>Times New Roman</vt:lpstr>
      <vt:lpstr>Custom</vt:lpstr>
      <vt:lpstr>Strategic Growth and Revenue Stabilization: Enhancing Customer Retention and Inventory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sinan ameer</dc:creator>
  <cp:lastModifiedBy>sinan ameer</cp:lastModifiedBy>
  <cp:revision>2</cp:revision>
  <dcterms:created xsi:type="dcterms:W3CDTF">2025-08-17T11:41:26Z</dcterms:created>
  <dcterms:modified xsi:type="dcterms:W3CDTF">2025-08-26T09:55:08Z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